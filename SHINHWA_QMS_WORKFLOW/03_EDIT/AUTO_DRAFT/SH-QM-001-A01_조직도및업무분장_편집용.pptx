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3b2d0aa541743c5" /><Relationship Type="http://schemas.openxmlformats.org/officeDocument/2006/relationships/extended-properties" Target="/docProps/app.xml" Id="Rb832d6f6d3454802" /><Relationship Type="http://schemas.openxmlformats.org/officeDocument/2006/relationships/officeDocument" Target="/ppt/presentation.xml" Id="R174e90b78c314c4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9cac501e37b4a69"/>
  </p:sldMasterIdLst>
  <p:notesMasterIdLst>
    <p:notesMasterId xmlns:r="http://schemas.openxmlformats.org/officeDocument/2006/relationships" r:id="R6e237a43d2004ea2"/>
  </p:notesMasterIdLst>
  <p:sldIdLst>
    <p:sldId xmlns:r="http://schemas.openxmlformats.org/officeDocument/2006/relationships" id="256" r:id="Rdd05f3691e0f4ef7"/>
    <p:sldId xmlns:r="http://schemas.openxmlformats.org/officeDocument/2006/relationships" id="257" r:id="R6f3e781fa1f24b9b"/>
  </p:sldIdLst>
  <p:sldSz cx="15240000" cy="11430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4bd68921d9345f5" /><Relationship Type="http://schemas.openxmlformats.org/officeDocument/2006/relationships/slideMaster" Target="/ppt/slideMasters/slideMaster1.xml" Id="Rf9cac501e37b4a69" /><Relationship Type="http://schemas.openxmlformats.org/officeDocument/2006/relationships/notesMaster" Target="/ppt/notesMasters/notesMaster1.xml" Id="R6e237a43d2004ea2" /><Relationship Type="http://schemas.openxmlformats.org/officeDocument/2006/relationships/presProps" Target="/ppt/presProps.xml" Id="R3894bc6f541b4556" /><Relationship Type="http://schemas.openxmlformats.org/officeDocument/2006/relationships/tableStyles" Target="/ppt/tableStyles.xml" Id="Re348c77e1e544c79" /><Relationship Type="http://schemas.openxmlformats.org/officeDocument/2006/relationships/slide" Target="/ppt/slides/slide1.xml" Id="Rdd05f3691e0f4ef7" /><Relationship Type="http://schemas.openxmlformats.org/officeDocument/2006/relationships/slide" Target="/ppt/slides/slide2.xml" Id="R6f3e781fa1f24b9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eda8a5e37b8407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c82cac328294786" /><Relationship Type="http://schemas.openxmlformats.org/officeDocument/2006/relationships/notesMaster" Target="/ppt/notesMasters/notesMaster1.xml" Id="Rf57b6ae7b5e049c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232a512e07f4f3c" /><Relationship Type="http://schemas.openxmlformats.org/officeDocument/2006/relationships/notesMaster" Target="/ppt/notesMasters/notesMaster1.xml" Id="R8f9c40ff8f3b4e9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제공 Excel 사장님꺼 최종본 (2) 시트. CFO 신욱기는 사용자 정정 반영. 사용자 요청으로 조직도와 담당업무를 분리. 실선 표시는 사용자 요청.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(주)신화에이치앤티 조직도 3 (3) (4).xlsx 사장님꺼 최종본 (2) 시트의 개인별 직무. 원문 요약. CEO와 CFO 업무는 원문에 없어 추가하지 않음.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224450671d94ff3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0db8032d6f446ad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64935307e1e4f18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333b93f4d5e4929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743cece191d46d6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642691c765847b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C62EF31-0201-47B0-84B3-74CFBC9B0F1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4318000"/>
            <a:ext cx="1219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77F71D0B-FB0B-49C3-B389-1CC7414170A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286000" y="6286500"/>
            <a:ext cx="10668000" cy="127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03F9D821-C82F-44BC-BB1D-7B160BD22E7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4762500"/>
            <a:ext cx="121920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49B6615-1DF5-46B0-BC3F-37F70A8A5AE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889000"/>
            <a:ext cx="13525500" cy="139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FBB52AAB-63B5-456E-81E3-EC7912D2B5D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3175000"/>
            <a:ext cx="13525500" cy="711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6D629559-C957-47E9-BD86-FC3F33E5109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889000"/>
            <a:ext cx="13525500" cy="139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EBF0884-9B1F-4672-A03A-3DE55154C2A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3175000"/>
            <a:ext cx="6286500" cy="711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9DB91878-C68A-410A-934C-CD831800F06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096250" y="3175000"/>
            <a:ext cx="6286500" cy="711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1D26942-7986-4F38-9799-E43C99778BF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889000"/>
            <a:ext cx="13525500" cy="139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B1A5DCC-3385-47E4-9B43-4A3A9E849BE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3175000"/>
            <a:ext cx="6286500" cy="711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2eaeb3ee70346d9" /><Relationship Type="http://schemas.openxmlformats.org/officeDocument/2006/relationships/slideLayout" Target="/ppt/slideLayouts/slideLayout1.xml" Id="R484e06958d394a50" /><Relationship Type="http://schemas.openxmlformats.org/officeDocument/2006/relationships/slideLayout" Target="/ppt/slideLayouts/slideLayout2.xml" Id="R712f4f6195fa4fd6" /><Relationship Type="http://schemas.openxmlformats.org/officeDocument/2006/relationships/slideLayout" Target="/ppt/slideLayouts/slideLayout3.xml" Id="R647dbd854c794509" /><Relationship Type="http://schemas.openxmlformats.org/officeDocument/2006/relationships/slideLayout" Target="/ppt/slideLayouts/slideLayout4.xml" Id="R6e6b623ec84c4512" /><Relationship Type="http://schemas.openxmlformats.org/officeDocument/2006/relationships/slideLayout" Target="/ppt/slideLayouts/slideLayout5.xml" Id="Ra3df5d3087884e52" /><Relationship Type="http://schemas.openxmlformats.org/officeDocument/2006/relationships/slideLayout" Target="/ppt/slideLayouts/slideLayout6.xml" Id="R075646562cd24e8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84e06958d394a50"/>
    <p:sldLayoutId xmlns:r="http://schemas.openxmlformats.org/officeDocument/2006/relationships" id="2147483650" r:id="R712f4f6195fa4fd6"/>
    <p:sldLayoutId xmlns:r="http://schemas.openxmlformats.org/officeDocument/2006/relationships" id="2147483651" r:id="R647dbd854c794509"/>
    <p:sldLayoutId xmlns:r="http://schemas.openxmlformats.org/officeDocument/2006/relationships" id="2147483652" r:id="R6e6b623ec84c4512"/>
    <p:sldLayoutId xmlns:r="http://schemas.openxmlformats.org/officeDocument/2006/relationships" id="2147483653" r:id="Ra3df5d3087884e52"/>
    <p:sldLayoutId xmlns:r="http://schemas.openxmlformats.org/officeDocument/2006/relationships" id="2147483654" r:id="R075646562cd24e8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bd89397834641ac" /><Relationship Type="http://schemas.openxmlformats.org/officeDocument/2006/relationships/notesSlide" Target="/ppt/notesSlides/notesSlide1.xml" Id="R4bee1edc23ef40c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a81a0121a0d423c" /><Relationship Type="http://schemas.openxmlformats.org/officeDocument/2006/relationships/notesSlide" Target="/ppt/notesSlides/notesSlide2.xml" Id="R4491dc48dd704e6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title">
            <a:extLst xmlns:a="http://schemas.openxmlformats.org/drawingml/2006/main">
              <a:ext uri="{FF2B5EF4-FFF2-40B4-BE49-F238E27FC236}">
                <a16:creationId xmlns:a16="http://schemas.microsoft.com/office/drawing/2014/main" id="{77F666AC-7637-4C90-B08F-D8AA7D0EC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81000"/>
            <a:ext cx="1409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76200" tIns="76200" rIns="76200" bIns="76200" anchor="t">
            <a:noAutofit/>
          </a:bodyPr>
          <a:lstStyle xmlns:a="http://schemas.openxmlformats.org/drawingml/2006/main">
            <a:defPPr algn="l">
              <a:defRPr sz="3150">
                <a:solidFill>
                  <a:srgbClr val="17324D"/>
                </a:solidFill>
                <a:latin typeface="맑은 고딕"/>
                <a:ea typeface="맑은 고딕"/>
                <a:cs typeface="맑은 고딕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150">
                <a:solidFill>
                  <a:srgbClr val="17324D"/>
                </a:solidFill>
                <a:latin typeface="맑은 고딕"/>
                <a:ea typeface="맑은 고딕"/>
                <a:cs typeface="맑은 고딕"/>
              </a:defRPr>
            </a:pPr>
            <a:r>
              <a:rPr sz="3150">
                <a:solidFill>
                  <a:srgbClr val="17324D"/>
                </a:solidFill>
                <a:latin typeface="맑은 고딕"/>
                <a:ea typeface="맑은 고딕"/>
                <a:cs typeface="맑은 고딕"/>
              </a:rPr>
              <a:t>㈜신화에이치앤티 조직도</a:t>
            </a:r>
          </a:p>
        </p:txBody>
      </p:sp>
      <p:sp>
        <p:nvSpPr>
          <p:cNvPr id="2" name="ceo">
            <a:extLst xmlns:a="http://schemas.openxmlformats.org/drawingml/2006/main">
              <a:ext uri="{FF2B5EF4-FFF2-40B4-BE49-F238E27FC236}">
                <a16:creationId xmlns:a16="http://schemas.microsoft.com/office/drawing/2014/main" id="{0B4E75DD-8F01-4F99-98BD-E79105C54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14500"/>
            <a:ext cx="28575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76200" tIns="76200" rIns="76200" bIns="76200" anchor="ctr">
            <a:noAutofit/>
          </a:bodyPr>
          <a:lstStyle xmlns:a="http://schemas.openxmlformats.org/drawingml/2006/main">
            <a:defPPr algn="ctr">
              <a:defRPr sz="1800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defPPr>
          </a:lstStyle>
          <a:p xmlns:a="http://schemas.openxmlformats.org/drawingml/2006/main"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180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대표이사 · CEO</a:t>
            </a:r>
          </a:p>
          <a:p xmlns:a="http://schemas.openxmlformats.org/drawingml/2006/main"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180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조현우</a:t>
            </a:r>
          </a:p>
        </p:txBody>
      </p:sp>
      <p:sp>
        <p:nvSpPr>
          <p:cNvPr id="3" name="cfo">
            <a:extLst xmlns:a="http://schemas.openxmlformats.org/drawingml/2006/main">
              <a:ext uri="{FF2B5EF4-FFF2-40B4-BE49-F238E27FC236}">
                <a16:creationId xmlns:a16="http://schemas.microsoft.com/office/drawing/2014/main" id="{45823EB8-315E-42BC-9255-F7F8FEC5C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20625" y="1714500"/>
            <a:ext cx="214312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76200" tIns="76200" rIns="76200" bIns="76200" anchor="ctr">
            <a:noAutofit/>
          </a:bodyPr>
          <a:lstStyle xmlns:a="http://schemas.openxmlformats.org/drawingml/2006/main">
            <a:defPPr algn="ctr">
              <a:defRPr sz="1800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defPPr>
          </a:lstStyle>
          <a:p xmlns:a="http://schemas.openxmlformats.org/drawingml/2006/main"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180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CFO</a:t>
            </a:r>
          </a:p>
          <a:p xmlns:a="http://schemas.openxmlformats.org/drawingml/2006/main"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180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신욱기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EA3F9F-26D4-4071-987A-EC73C0A01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181225"/>
            <a:ext cx="3571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7286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D42775-1589-436A-8F60-EF18F861A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2667000"/>
            <a:ext cx="190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7286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7587BE-7082-4C8A-9DB0-AF15E018C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609975"/>
            <a:ext cx="9734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7286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603D84-1B69-4CFF-AD37-316064770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619500"/>
            <a:ext cx="190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7286"/>
          </a:solidFill>
          <a:ln xmlns:a="http://schemas.openxmlformats.org/drawingml/2006/main" w="0">
            <a:noFill/>
          </a:ln>
        </p:spPr>
      </p:sp>
      <p:sp>
        <p:nvSpPr>
          <p:cNvPr id="8" name="head0">
            <a:extLst xmlns:a="http://schemas.openxmlformats.org/drawingml/2006/main">
              <a:ext uri="{FF2B5EF4-FFF2-40B4-BE49-F238E27FC236}">
                <a16:creationId xmlns:a16="http://schemas.microsoft.com/office/drawing/2014/main" id="{5265E65D-7E9D-48FC-8952-15C116CFB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286250"/>
            <a:ext cx="214312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D6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76200" tIns="76200" rIns="76200" bIns="76200" anchor="ctr">
            <a:noAutofit/>
          </a:bodyPr>
          <a:lstStyle xmlns:a="http://schemas.openxmlformats.org/drawingml/2006/main">
            <a:defPPr algn="ctr">
              <a:defRPr sz="1650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defPPr>
          </a:lstStyle>
          <a:p xmlns:a="http://schemas.openxmlformats.org/drawingml/2006/main"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650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165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영업관리본부</a:t>
            </a:r>
          </a:p>
          <a:p xmlns:a="http://schemas.openxmlformats.org/drawingml/2006/main"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650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165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신성호 부장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3418E5-599D-414B-9C61-21D0D2E2A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3619500"/>
            <a:ext cx="190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7286"/>
          </a:solidFill>
          <a:ln xmlns:a="http://schemas.openxmlformats.org/drawingml/2006/main" w="0">
            <a:noFill/>
          </a:ln>
        </p:spPr>
      </p:sp>
      <p:sp>
        <p:nvSpPr>
          <p:cNvPr id="10" name="head1">
            <a:extLst xmlns:a="http://schemas.openxmlformats.org/drawingml/2006/main">
              <a:ext uri="{FF2B5EF4-FFF2-40B4-BE49-F238E27FC236}">
                <a16:creationId xmlns:a16="http://schemas.microsoft.com/office/drawing/2014/main" id="{8AAA5B36-47FC-49FB-88B6-2F853E911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4286250"/>
            <a:ext cx="214312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D6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76200" tIns="76200" rIns="76200" bIns="76200" anchor="ctr">
            <a:noAutofit/>
          </a:bodyPr>
          <a:lstStyle xmlns:a="http://schemas.openxmlformats.org/drawingml/2006/main">
            <a:defPPr algn="ctr">
              <a:defRPr sz="1650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defPPr>
          </a:lstStyle>
          <a:p xmlns:a="http://schemas.openxmlformats.org/drawingml/2006/main"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650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165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생산본부</a:t>
            </a:r>
          </a:p>
          <a:p xmlns:a="http://schemas.openxmlformats.org/drawingml/2006/main"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650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165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김흥수 이사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C22824-3CF2-4201-B3E8-B75DAF938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619500"/>
            <a:ext cx="190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7286"/>
          </a:solidFill>
          <a:ln xmlns:a="http://schemas.openxmlformats.org/drawingml/2006/main" w="0">
            <a:noFill/>
          </a:ln>
        </p:spPr>
      </p:sp>
      <p:sp>
        <p:nvSpPr>
          <p:cNvPr id="12" name="head2">
            <a:extLst xmlns:a="http://schemas.openxmlformats.org/drawingml/2006/main">
              <a:ext uri="{FF2B5EF4-FFF2-40B4-BE49-F238E27FC236}">
                <a16:creationId xmlns:a16="http://schemas.microsoft.com/office/drawing/2014/main" id="{DDE370CE-B28A-45DC-BB3D-99BA61FFD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286250"/>
            <a:ext cx="214312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D6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76200" tIns="76200" rIns="76200" bIns="76200" anchor="ctr">
            <a:noAutofit/>
          </a:bodyPr>
          <a:lstStyle xmlns:a="http://schemas.openxmlformats.org/drawingml/2006/main">
            <a:defPPr algn="ctr">
              <a:defRPr sz="1650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defPPr>
          </a:lstStyle>
          <a:p xmlns:a="http://schemas.openxmlformats.org/drawingml/2006/main"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650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165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연구소/개발본부</a:t>
            </a:r>
          </a:p>
          <a:p xmlns:a="http://schemas.openxmlformats.org/drawingml/2006/main"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650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165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김주태 이사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802B1BE-5AC0-44CB-9F74-1BEB631BA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3619500"/>
            <a:ext cx="190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7286"/>
          </a:solidFill>
          <a:ln xmlns:a="http://schemas.openxmlformats.org/drawingml/2006/main" w="0">
            <a:noFill/>
          </a:ln>
        </p:spPr>
      </p:sp>
      <p:sp>
        <p:nvSpPr>
          <p:cNvPr id="14" name="head3">
            <a:extLst xmlns:a="http://schemas.openxmlformats.org/drawingml/2006/main">
              <a:ext uri="{FF2B5EF4-FFF2-40B4-BE49-F238E27FC236}">
                <a16:creationId xmlns:a16="http://schemas.microsoft.com/office/drawing/2014/main" id="{2312CF94-F0C4-4EEB-A15C-B025A4645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4286250"/>
            <a:ext cx="214312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D6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76200" tIns="76200" rIns="76200" bIns="76200" anchor="ctr">
            <a:noAutofit/>
          </a:bodyPr>
          <a:lstStyle xmlns:a="http://schemas.openxmlformats.org/drawingml/2006/main">
            <a:defPPr algn="ctr">
              <a:defRPr sz="1650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defPPr>
          </a:lstStyle>
          <a:p xmlns:a="http://schemas.openxmlformats.org/drawingml/2006/main"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650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165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품질경영본부</a:t>
            </a:r>
          </a:p>
          <a:p xmlns:a="http://schemas.openxmlformats.org/drawingml/2006/main"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650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165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김주태 이사(겸임)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944D9B-2B37-43E2-A517-65CA927A7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3619500"/>
            <a:ext cx="190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7286"/>
          </a:solidFill>
          <a:ln xmlns:a="http://schemas.openxmlformats.org/drawingml/2006/main" w="0">
            <a:noFill/>
          </a:ln>
        </p:spPr>
      </p:sp>
      <p:sp>
        <p:nvSpPr>
          <p:cNvPr id="16" name="head4">
            <a:extLst xmlns:a="http://schemas.openxmlformats.org/drawingml/2006/main">
              <a:ext uri="{FF2B5EF4-FFF2-40B4-BE49-F238E27FC236}">
                <a16:creationId xmlns:a16="http://schemas.microsoft.com/office/drawing/2014/main" id="{E6EF2ED7-E248-4095-AAAE-A6392B377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4286250"/>
            <a:ext cx="214312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76200" tIns="76200" rIns="76200" bIns="76200" anchor="ctr">
            <a:noAutofit/>
          </a:bodyPr>
          <a:lstStyle xmlns:a="http://schemas.openxmlformats.org/drawingml/2006/main">
            <a:defPPr algn="ctr">
              <a:defRPr sz="1650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defPPr>
          </a:lstStyle>
          <a:p xmlns:a="http://schemas.openxmlformats.org/drawingml/2006/main"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650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165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선행품질팀</a:t>
            </a:r>
          </a:p>
          <a:p xmlns:a="http://schemas.openxmlformats.org/drawingml/2006/main"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650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165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박철호 부장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5A48FCC-80E9-40B8-8144-D5ABD9F21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87425" y="2667000"/>
            <a:ext cx="190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7286"/>
          </a:solidFill>
          <a:ln xmlns:a="http://schemas.openxmlformats.org/drawingml/2006/main" w="0">
            <a:noFill/>
          </a:ln>
        </p:spPr>
      </p:sp>
      <p:sp>
        <p:nvSpPr>
          <p:cNvPr id="18" name="head5">
            <a:extLst xmlns:a="http://schemas.openxmlformats.org/drawingml/2006/main">
              <a:ext uri="{FF2B5EF4-FFF2-40B4-BE49-F238E27FC236}">
                <a16:creationId xmlns:a16="http://schemas.microsoft.com/office/drawing/2014/main" id="{83BFE237-FA61-4BD8-BE85-92261E407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20625" y="4286250"/>
            <a:ext cx="214312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D6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76200" tIns="76200" rIns="76200" bIns="76200" anchor="ctr">
            <a:noAutofit/>
          </a:bodyPr>
          <a:lstStyle xmlns:a="http://schemas.openxmlformats.org/drawingml/2006/main">
            <a:defPPr algn="ctr">
              <a:defRPr sz="1650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defPPr>
          </a:lstStyle>
          <a:p xmlns:a="http://schemas.openxmlformats.org/drawingml/2006/main"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650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165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경영관리팀</a:t>
            </a:r>
          </a:p>
          <a:p xmlns:a="http://schemas.openxmlformats.org/drawingml/2006/main"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650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165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 책임자 김수미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CCC9F83-3F13-4AD6-BF9A-6C65D928A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334000"/>
            <a:ext cx="190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7286"/>
          </a:solidFill>
          <a:ln xmlns:a="http://schemas.openxmlformats.org/drawingml/2006/main" w="0">
            <a:noFill/>
          </a:ln>
        </p:spPr>
      </p:sp>
      <p:sp>
        <p:nvSpPr>
          <p:cNvPr id="20" name="child2">
            <a:extLst xmlns:a="http://schemas.openxmlformats.org/drawingml/2006/main">
              <a:ext uri="{FF2B5EF4-FFF2-40B4-BE49-F238E27FC236}">
                <a16:creationId xmlns:a16="http://schemas.microsoft.com/office/drawing/2014/main" id="{70690067-C1EE-4E9A-BF1B-8D93A4F9B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5857875"/>
            <a:ext cx="2143125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8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76200" tIns="76200" rIns="76200" bIns="76200" anchor="ctr">
            <a:noAutofit/>
          </a:bodyPr>
          <a:lstStyle xmlns:a="http://schemas.openxmlformats.org/drawingml/2006/main">
            <a:defPPr algn="ctr">
              <a:defRPr sz="1650">
                <a:solidFill>
                  <a:srgbClr val="17324D"/>
                </a:solidFill>
                <a:latin typeface="맑은 고딕"/>
                <a:ea typeface="맑은 고딕"/>
                <a:cs typeface="맑은 고딕"/>
              </a:defRPr>
            </a:defPPr>
          </a:lstStyle>
          <a:p xmlns:a="http://schemas.openxmlformats.org/drawingml/2006/main"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650">
                <a:solidFill>
                  <a:srgbClr val="17324D"/>
                </a:solidFill>
                <a:latin typeface="맑은 고딕"/>
                <a:ea typeface="맑은 고딕"/>
                <a:cs typeface="맑은 고딕"/>
              </a:defRPr>
            </a:pPr>
            <a:r>
              <a:rPr sz="1650">
                <a:solidFill>
                  <a:srgbClr val="17324D"/>
                </a:solidFill>
                <a:latin typeface="맑은 고딕"/>
                <a:ea typeface="맑은 고딕"/>
                <a:cs typeface="맑은 고딕"/>
              </a:rPr>
              <a:t>개발팀</a:t>
            </a:r>
          </a:p>
          <a:p xmlns:a="http://schemas.openxmlformats.org/drawingml/2006/main"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650">
                <a:solidFill>
                  <a:srgbClr val="17324D"/>
                </a:solidFill>
                <a:latin typeface="맑은 고딕"/>
                <a:ea typeface="맑은 고딕"/>
                <a:cs typeface="맑은 고딕"/>
              </a:defRPr>
            </a:pPr>
            <a:r>
              <a:rPr sz="1650">
                <a:solidFill>
                  <a:srgbClr val="17324D"/>
                </a:solidFill>
                <a:latin typeface="맑은 고딕"/>
                <a:ea typeface="맑은 고딕"/>
                <a:cs typeface="맑은 고딕"/>
              </a:rPr>
              <a:t>한상돈 부장</a:t>
            </a:r>
          </a:p>
          <a:p xmlns:a="http://schemas.openxmlformats.org/drawingml/2006/main"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650">
                <a:solidFill>
                  <a:srgbClr val="17324D"/>
                </a:solidFill>
                <a:latin typeface="맑은 고딕"/>
                <a:ea typeface="맑은 고딕"/>
                <a:cs typeface="맑은 고딕"/>
              </a:defRPr>
            </a:pPr>
            <a:r>
              <a:rPr sz="1650">
                <a:solidFill>
                  <a:srgbClr val="17324D"/>
                </a:solidFill>
                <a:latin typeface="맑은 고딕"/>
                <a:ea typeface="맑은 고딕"/>
                <a:cs typeface="맑은 고딕"/>
              </a:rPr>
              <a:t>최윤서 과장</a:t>
            </a:r>
          </a:p>
          <a:p xmlns:a="http://schemas.openxmlformats.org/drawingml/2006/main"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650">
                <a:solidFill>
                  <a:srgbClr val="17324D"/>
                </a:solidFill>
                <a:latin typeface="맑은 고딕"/>
                <a:ea typeface="맑은 고딕"/>
                <a:cs typeface="맑은 고딕"/>
              </a:defRPr>
            </a:pPr>
            <a:r>
              <a:rPr sz="1650">
                <a:solidFill>
                  <a:srgbClr val="17324D"/>
                </a:solidFill>
                <a:latin typeface="맑은 고딕"/>
                <a:ea typeface="맑은 고딕"/>
                <a:cs typeface="맑은 고딕"/>
              </a:rPr>
              <a:t>최형진 사원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CC52B62-5A1E-4804-964E-58EFA0A73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5334000"/>
            <a:ext cx="190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7286"/>
          </a:solidFill>
          <a:ln xmlns:a="http://schemas.openxmlformats.org/drawingml/2006/main" w="0">
            <a:noFill/>
          </a:ln>
        </p:spPr>
      </p:sp>
      <p:sp>
        <p:nvSpPr>
          <p:cNvPr id="22" name="child3">
            <a:extLst xmlns:a="http://schemas.openxmlformats.org/drawingml/2006/main">
              <a:ext uri="{FF2B5EF4-FFF2-40B4-BE49-F238E27FC236}">
                <a16:creationId xmlns:a16="http://schemas.microsoft.com/office/drawing/2014/main" id="{28B1A3FC-B529-49F2-BB4D-12ED8FA52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5857875"/>
            <a:ext cx="2143125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8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76200" tIns="76200" rIns="76200" bIns="76200" anchor="ctr">
            <a:noAutofit/>
          </a:bodyPr>
          <a:lstStyle xmlns:a="http://schemas.openxmlformats.org/drawingml/2006/main">
            <a:defPPr algn="ctr">
              <a:defRPr sz="1650">
                <a:solidFill>
                  <a:srgbClr val="17324D"/>
                </a:solidFill>
                <a:latin typeface="맑은 고딕"/>
                <a:ea typeface="맑은 고딕"/>
                <a:cs typeface="맑은 고딕"/>
              </a:defRPr>
            </a:defPPr>
          </a:lstStyle>
          <a:p xmlns:a="http://schemas.openxmlformats.org/drawingml/2006/main"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650">
                <a:solidFill>
                  <a:srgbClr val="17324D"/>
                </a:solidFill>
                <a:latin typeface="맑은 고딕"/>
                <a:ea typeface="맑은 고딕"/>
                <a:cs typeface="맑은 고딕"/>
              </a:defRPr>
            </a:pPr>
            <a:r>
              <a:rPr sz="1650">
                <a:solidFill>
                  <a:srgbClr val="17324D"/>
                </a:solidFill>
                <a:latin typeface="맑은 고딕"/>
                <a:ea typeface="맑은 고딕"/>
                <a:cs typeface="맑은 고딕"/>
              </a:rPr>
              <a:t>양산품질</a:t>
            </a:r>
          </a:p>
          <a:p xmlns:a="http://schemas.openxmlformats.org/drawingml/2006/main"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650">
                <a:solidFill>
                  <a:srgbClr val="17324D"/>
                </a:solidFill>
                <a:latin typeface="맑은 고딕"/>
                <a:ea typeface="맑은 고딕"/>
                <a:cs typeface="맑은 고딕"/>
              </a:defRPr>
            </a:pPr>
            <a:r>
              <a:rPr sz="1650">
                <a:solidFill>
                  <a:srgbClr val="17324D"/>
                </a:solidFill>
                <a:latin typeface="맑은 고딕"/>
                <a:ea typeface="맑은 고딕"/>
                <a:cs typeface="맑은 고딕"/>
              </a:rPr>
              <a:t>이광재 부장</a:t>
            </a:r>
          </a:p>
          <a:p xmlns:a="http://schemas.openxmlformats.org/drawingml/2006/main"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650">
                <a:solidFill>
                  <a:srgbClr val="17324D"/>
                </a:solidFill>
                <a:latin typeface="맑은 고딕"/>
                <a:ea typeface="맑은 고딕"/>
                <a:cs typeface="맑은 고딕"/>
              </a:defRPr>
            </a:pPr>
            <a:r>
              <a:rPr sz="1650">
                <a:solidFill>
                  <a:srgbClr val="17324D"/>
                </a:solidFill>
                <a:latin typeface="맑은 고딕"/>
                <a:ea typeface="맑은 고딕"/>
                <a:cs typeface="맑은 고딕"/>
              </a:rPr>
              <a:t>조남옥 대리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275F415-A00C-4188-9590-3A4C99F8F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5334000"/>
            <a:ext cx="190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7286"/>
          </a:solidFill>
          <a:ln xmlns:a="http://schemas.openxmlformats.org/drawingml/2006/main" w="0">
            <a:noFill/>
          </a:ln>
        </p:spPr>
      </p:sp>
      <p:sp>
        <p:nvSpPr>
          <p:cNvPr id="24" name="child4">
            <a:extLst xmlns:a="http://schemas.openxmlformats.org/drawingml/2006/main">
              <a:ext uri="{FF2B5EF4-FFF2-40B4-BE49-F238E27FC236}">
                <a16:creationId xmlns:a16="http://schemas.microsoft.com/office/drawing/2014/main" id="{DC047D3B-FCC2-4312-B9BA-AF9D00484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5857875"/>
            <a:ext cx="2143125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8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76200" tIns="76200" rIns="76200" bIns="76200" anchor="ctr">
            <a:noAutofit/>
          </a:bodyPr>
          <a:lstStyle xmlns:a="http://schemas.openxmlformats.org/drawingml/2006/main">
            <a:defPPr algn="ctr">
              <a:defRPr sz="1650">
                <a:solidFill>
                  <a:srgbClr val="17324D"/>
                </a:solidFill>
                <a:latin typeface="맑은 고딕"/>
                <a:ea typeface="맑은 고딕"/>
                <a:cs typeface="맑은 고딕"/>
              </a:defRPr>
            </a:defPPr>
          </a:lstStyle>
          <a:p xmlns:a="http://schemas.openxmlformats.org/drawingml/2006/main"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650">
                <a:solidFill>
                  <a:srgbClr val="17324D"/>
                </a:solidFill>
                <a:latin typeface="맑은 고딕"/>
                <a:ea typeface="맑은 고딕"/>
                <a:cs typeface="맑은 고딕"/>
              </a:defRPr>
            </a:pPr>
            <a:r>
              <a:rPr sz="1650">
                <a:solidFill>
                  <a:srgbClr val="17324D"/>
                </a:solidFill>
                <a:latin typeface="맑은 고딕"/>
                <a:ea typeface="맑은 고딕"/>
                <a:cs typeface="맑은 고딕"/>
              </a:rPr>
              <a:t>김명용 과장</a:t>
            </a:r>
          </a:p>
          <a:p xmlns:a="http://schemas.openxmlformats.org/drawingml/2006/main"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650">
                <a:solidFill>
                  <a:srgbClr val="17324D"/>
                </a:solidFill>
                <a:latin typeface="맑은 고딕"/>
                <a:ea typeface="맑은 고딕"/>
                <a:cs typeface="맑은 고딕"/>
              </a:defRPr>
            </a:pPr>
            <a:r>
              <a:rPr sz="1650">
                <a:solidFill>
                  <a:srgbClr val="17324D"/>
                </a:solidFill>
                <a:latin typeface="맑은 고딕"/>
                <a:ea typeface="맑은 고딕"/>
                <a:cs typeface="맑은 고딕"/>
              </a:rPr>
              <a:t>박미광 사원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C1FF60F-2067-4B7B-9E51-73EFDCFDE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87425" y="5334000"/>
            <a:ext cx="190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7286"/>
          </a:solidFill>
          <a:ln xmlns:a="http://schemas.openxmlformats.org/drawingml/2006/main" w="0">
            <a:noFill/>
          </a:ln>
        </p:spPr>
      </p:sp>
      <p:sp>
        <p:nvSpPr>
          <p:cNvPr id="26" name="child5">
            <a:extLst xmlns:a="http://schemas.openxmlformats.org/drawingml/2006/main">
              <a:ext uri="{FF2B5EF4-FFF2-40B4-BE49-F238E27FC236}">
                <a16:creationId xmlns:a16="http://schemas.microsoft.com/office/drawing/2014/main" id="{C6632E00-3DDF-4472-8C00-D30330E4B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20625" y="5857875"/>
            <a:ext cx="2143125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8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76200" tIns="76200" rIns="76200" bIns="76200" anchor="ctr">
            <a:noAutofit/>
          </a:bodyPr>
          <a:lstStyle xmlns:a="http://schemas.openxmlformats.org/drawingml/2006/main">
            <a:defPPr algn="ctr">
              <a:defRPr sz="1650">
                <a:solidFill>
                  <a:srgbClr val="17324D"/>
                </a:solidFill>
                <a:latin typeface="맑은 고딕"/>
                <a:ea typeface="맑은 고딕"/>
                <a:cs typeface="맑은 고딕"/>
              </a:defRPr>
            </a:defPPr>
          </a:lstStyle>
          <a:p xmlns:a="http://schemas.openxmlformats.org/drawingml/2006/main"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650">
                <a:solidFill>
                  <a:srgbClr val="17324D"/>
                </a:solidFill>
                <a:latin typeface="맑은 고딕"/>
                <a:ea typeface="맑은 고딕"/>
                <a:cs typeface="맑은 고딕"/>
              </a:defRPr>
            </a:pPr>
            <a:r>
              <a:rPr sz="1650">
                <a:solidFill>
                  <a:srgbClr val="17324D"/>
                </a:solidFill>
                <a:latin typeface="맑은 고딕"/>
                <a:ea typeface="맑은 고딕"/>
                <a:cs typeface="맑은 고딕"/>
              </a:rPr>
              <a:t>안혜정 대리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F0B0594-D792-44BA-A951-269E0081A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725" y="5334000"/>
            <a:ext cx="1219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7286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51CE76A-B637-483D-AC5F-272B36F48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725" y="5334000"/>
            <a:ext cx="19050" cy="471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7286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4FCD2A1-58BD-4BA3-BA5C-FDA0952CF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725" y="6591300"/>
            <a:ext cx="152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7286"/>
          </a:solidFill>
          <a:ln xmlns:a="http://schemas.openxmlformats.org/drawingml/2006/main" w="0">
            <a:noFill/>
          </a:ln>
        </p:spPr>
      </p:sp>
      <p:sp>
        <p:nvSpPr>
          <p:cNvPr id="30" name="prod0">
            <a:extLst xmlns:a="http://schemas.openxmlformats.org/drawingml/2006/main">
              <a:ext uri="{FF2B5EF4-FFF2-40B4-BE49-F238E27FC236}">
                <a16:creationId xmlns:a16="http://schemas.microsoft.com/office/drawing/2014/main" id="{520EDB76-8065-4411-87A7-C5D8BD687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5857875"/>
            <a:ext cx="2143125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8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76200" tIns="76200" rIns="76200" bIns="76200" anchor="ctr">
            <a:noAutofit/>
          </a:bodyPr>
          <a:lstStyle xmlns:a="http://schemas.openxmlformats.org/drawingml/2006/main">
            <a:defPPr algn="ctr">
              <a:defRPr sz="1650">
                <a:solidFill>
                  <a:srgbClr val="17324D"/>
                </a:solidFill>
                <a:latin typeface="맑은 고딕"/>
                <a:ea typeface="맑은 고딕"/>
                <a:cs typeface="맑은 고딕"/>
              </a:defRPr>
            </a:defPPr>
          </a:lstStyle>
          <a:p xmlns:a="http://schemas.openxmlformats.org/drawingml/2006/main"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650">
                <a:solidFill>
                  <a:srgbClr val="17324D"/>
                </a:solidFill>
                <a:latin typeface="맑은 고딕"/>
                <a:ea typeface="맑은 고딕"/>
                <a:cs typeface="맑은 고딕"/>
              </a:defRPr>
            </a:pPr>
            <a:r>
              <a:rPr sz="1650">
                <a:solidFill>
                  <a:srgbClr val="17324D"/>
                </a:solidFill>
                <a:latin typeface="맑은 고딕"/>
                <a:ea typeface="맑은 고딕"/>
                <a:cs typeface="맑은 고딕"/>
              </a:rPr>
              <a:t>생산관리</a:t>
            </a:r>
          </a:p>
          <a:p xmlns:a="http://schemas.openxmlformats.org/drawingml/2006/main"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650">
                <a:solidFill>
                  <a:srgbClr val="17324D"/>
                </a:solidFill>
                <a:latin typeface="맑은 고딕"/>
                <a:ea typeface="맑은 고딕"/>
                <a:cs typeface="맑은 고딕"/>
              </a:defRPr>
            </a:pPr>
            <a:r>
              <a:rPr sz="1650">
                <a:solidFill>
                  <a:srgbClr val="17324D"/>
                </a:solidFill>
                <a:latin typeface="맑은 고딕"/>
                <a:ea typeface="맑은 고딕"/>
                <a:cs typeface="맑은 고딕"/>
              </a:rPr>
              <a:t>지성규 부장(겸임)</a:t>
            </a:r>
          </a:p>
          <a:p xmlns:a="http://schemas.openxmlformats.org/drawingml/2006/main"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650">
                <a:solidFill>
                  <a:srgbClr val="17324D"/>
                </a:solidFill>
                <a:latin typeface="맑은 고딕"/>
                <a:ea typeface="맑은 고딕"/>
                <a:cs typeface="맑은 고딕"/>
              </a:defRPr>
            </a:pPr>
            <a:r>
              <a:rPr sz="1650">
                <a:solidFill>
                  <a:srgbClr val="17324D"/>
                </a:solidFill>
                <a:latin typeface="맑은 고딕"/>
                <a:ea typeface="맑은 고딕"/>
                <a:cs typeface="맑은 고딕"/>
              </a:rPr>
              <a:t>이은주 주임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8B0F28C-1D75-4BCC-88CF-DE1CDD1FB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725" y="8305800"/>
            <a:ext cx="152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7286"/>
          </a:solidFill>
          <a:ln xmlns:a="http://schemas.openxmlformats.org/drawingml/2006/main" w="0">
            <a:noFill/>
          </a:ln>
        </p:spPr>
      </p:sp>
      <p:sp>
        <p:nvSpPr>
          <p:cNvPr id="32" name="prod1">
            <a:extLst xmlns:a="http://schemas.openxmlformats.org/drawingml/2006/main">
              <a:ext uri="{FF2B5EF4-FFF2-40B4-BE49-F238E27FC236}">
                <a16:creationId xmlns:a16="http://schemas.microsoft.com/office/drawing/2014/main" id="{C302A2FE-7F8B-4632-A206-178A1322B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7572375"/>
            <a:ext cx="2143125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8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76200" tIns="76200" rIns="76200" bIns="76200" anchor="ctr">
            <a:noAutofit/>
          </a:bodyPr>
          <a:lstStyle xmlns:a="http://schemas.openxmlformats.org/drawingml/2006/main">
            <a:defPPr algn="ctr">
              <a:defRPr sz="1650">
                <a:solidFill>
                  <a:srgbClr val="17324D"/>
                </a:solidFill>
                <a:latin typeface="맑은 고딕"/>
                <a:ea typeface="맑은 고딕"/>
                <a:cs typeface="맑은 고딕"/>
              </a:defRPr>
            </a:defPPr>
          </a:lstStyle>
          <a:p xmlns:a="http://schemas.openxmlformats.org/drawingml/2006/main"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650">
                <a:solidFill>
                  <a:srgbClr val="17324D"/>
                </a:solidFill>
                <a:latin typeface="맑은 고딕"/>
                <a:ea typeface="맑은 고딕"/>
                <a:cs typeface="맑은 고딕"/>
              </a:defRPr>
            </a:pPr>
            <a:r>
              <a:rPr sz="1650">
                <a:solidFill>
                  <a:srgbClr val="17324D"/>
                </a:solidFill>
                <a:latin typeface="맑은 고딕"/>
                <a:ea typeface="맑은 고딕"/>
                <a:cs typeface="맑은 고딕"/>
              </a:rPr>
              <a:t>생산팀</a:t>
            </a:r>
          </a:p>
          <a:p xmlns:a="http://schemas.openxmlformats.org/drawingml/2006/main"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650">
                <a:solidFill>
                  <a:srgbClr val="17324D"/>
                </a:solidFill>
                <a:latin typeface="맑은 고딕"/>
                <a:ea typeface="맑은 고딕"/>
                <a:cs typeface="맑은 고딕"/>
              </a:defRPr>
            </a:pPr>
            <a:r>
              <a:rPr sz="1650">
                <a:solidFill>
                  <a:srgbClr val="17324D"/>
                </a:solidFill>
                <a:latin typeface="맑은 고딕"/>
                <a:ea typeface="맑은 고딕"/>
                <a:cs typeface="맑은 고딕"/>
              </a:rPr>
              <a:t>지성규 부장</a:t>
            </a:r>
          </a:p>
          <a:p xmlns:a="http://schemas.openxmlformats.org/drawingml/2006/main"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650">
                <a:solidFill>
                  <a:srgbClr val="17324D"/>
                </a:solidFill>
                <a:latin typeface="맑은 고딕"/>
                <a:ea typeface="맑은 고딕"/>
                <a:cs typeface="맑은 고딕"/>
              </a:defRPr>
            </a:pPr>
            <a:r>
              <a:rPr sz="1650">
                <a:solidFill>
                  <a:srgbClr val="17324D"/>
                </a:solidFill>
                <a:latin typeface="맑은 고딕"/>
                <a:ea typeface="맑은 고딕"/>
                <a:cs typeface="맑은 고딕"/>
              </a:rPr>
              <a:t>황지환 차장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7741813-CA69-4245-A1B2-FECAD8F52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725" y="10020300"/>
            <a:ext cx="152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7286"/>
          </a:solidFill>
          <a:ln xmlns:a="http://schemas.openxmlformats.org/drawingml/2006/main" w="0">
            <a:noFill/>
          </a:ln>
        </p:spPr>
      </p:sp>
      <p:sp>
        <p:nvSpPr>
          <p:cNvPr id="34" name="prod2">
            <a:extLst xmlns:a="http://schemas.openxmlformats.org/drawingml/2006/main">
              <a:ext uri="{FF2B5EF4-FFF2-40B4-BE49-F238E27FC236}">
                <a16:creationId xmlns:a16="http://schemas.microsoft.com/office/drawing/2014/main" id="{47655353-B003-4BA9-96ED-3E94394D9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9286875"/>
            <a:ext cx="2143125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8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76200" tIns="76200" rIns="76200" bIns="76200" anchor="ctr">
            <a:noAutofit/>
          </a:bodyPr>
          <a:lstStyle xmlns:a="http://schemas.openxmlformats.org/drawingml/2006/main">
            <a:defPPr algn="ctr">
              <a:defRPr sz="1650">
                <a:solidFill>
                  <a:srgbClr val="17324D"/>
                </a:solidFill>
                <a:latin typeface="맑은 고딕"/>
                <a:ea typeface="맑은 고딕"/>
                <a:cs typeface="맑은 고딕"/>
              </a:defRPr>
            </a:defPPr>
          </a:lstStyle>
          <a:p xmlns:a="http://schemas.openxmlformats.org/drawingml/2006/main"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650">
                <a:solidFill>
                  <a:srgbClr val="17324D"/>
                </a:solidFill>
                <a:latin typeface="맑은 고딕"/>
                <a:ea typeface="맑은 고딕"/>
                <a:cs typeface="맑은 고딕"/>
              </a:defRPr>
            </a:pPr>
            <a:r>
              <a:rPr sz="1650">
                <a:solidFill>
                  <a:srgbClr val="17324D"/>
                </a:solidFill>
                <a:latin typeface="맑은 고딕"/>
                <a:ea typeface="맑은 고딕"/>
                <a:cs typeface="맑은 고딕"/>
              </a:rPr>
              <a:t>자재관리</a:t>
            </a:r>
          </a:p>
          <a:p xmlns:a="http://schemas.openxmlformats.org/drawingml/2006/main"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650">
                <a:solidFill>
                  <a:srgbClr val="17324D"/>
                </a:solidFill>
                <a:latin typeface="맑은 고딕"/>
                <a:ea typeface="맑은 고딕"/>
                <a:cs typeface="맑은 고딕"/>
              </a:defRPr>
            </a:pPr>
            <a:r>
              <a:rPr sz="1650">
                <a:solidFill>
                  <a:srgbClr val="17324D"/>
                </a:solidFill>
                <a:latin typeface="맑은 고딕"/>
                <a:ea typeface="맑은 고딕"/>
                <a:cs typeface="맑은 고딕"/>
              </a:rPr>
              <a:t>이재황 주임</a:t>
            </a:r>
          </a:p>
          <a:p xmlns:a="http://schemas.openxmlformats.org/drawingml/2006/main"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650">
                <a:solidFill>
                  <a:srgbClr val="17324D"/>
                </a:solidFill>
                <a:latin typeface="맑은 고딕"/>
                <a:ea typeface="맑은 고딕"/>
                <a:cs typeface="맑은 고딕"/>
              </a:defRPr>
            </a:pPr>
            <a:r>
              <a:rPr sz="1650">
                <a:solidFill>
                  <a:srgbClr val="17324D"/>
                </a:solidFill>
                <a:latin typeface="맑은 고딕"/>
                <a:ea typeface="맑은 고딕"/>
                <a:cs typeface="맑은 고딕"/>
              </a:rPr>
              <a:t>신현진 사원</a:t>
            </a:r>
          </a:p>
        </p:txBody>
      </p:sp>
    </p:spTree>
    <p:extLst>
      <p:ext uri="{BB962C8B-B14F-4D97-AF65-F5344CB8AC3E}">
        <p14:creationId xmlns:p14="http://schemas.microsoft.com/office/powerpoint/2010/main" val="192598982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4" name="title">
            <a:extLst xmlns:a="http://schemas.openxmlformats.org/drawingml/2006/main">
              <a:ext uri="{FF2B5EF4-FFF2-40B4-BE49-F238E27FC236}">
                <a16:creationId xmlns:a16="http://schemas.microsoft.com/office/drawing/2014/main" id="{58E31CCD-BABC-41A5-8F56-9039DCF8A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81000"/>
            <a:ext cx="1409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76200" tIns="76200" rIns="76200" bIns="76200" anchor="t">
            <a:noAutofit/>
          </a:bodyPr>
          <a:lstStyle xmlns:a="http://schemas.openxmlformats.org/drawingml/2006/main">
            <a:defPPr algn="l">
              <a:defRPr sz="3150">
                <a:solidFill>
                  <a:srgbClr val="17324D"/>
                </a:solidFill>
                <a:latin typeface="맑은 고딕"/>
                <a:ea typeface="맑은 고딕"/>
                <a:cs typeface="맑은 고딕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150">
                <a:solidFill>
                  <a:srgbClr val="17324D"/>
                </a:solidFill>
                <a:latin typeface="맑은 고딕"/>
                <a:ea typeface="맑은 고딕"/>
                <a:cs typeface="맑은 고딕"/>
              </a:defRPr>
            </a:pPr>
            <a:r>
              <a:rPr sz="3150">
                <a:solidFill>
                  <a:srgbClr val="17324D"/>
                </a:solidFill>
                <a:latin typeface="맑은 고딕"/>
                <a:ea typeface="맑은 고딕"/>
                <a:cs typeface="맑은 고딕"/>
              </a:rPr>
              <a:t>㈜신화에이치앤티 담당자별 업무</a:t>
            </a:r>
          </a:p>
        </p:txBody>
      </p:sp>
      <p:sp>
        <p:nvSpPr>
          <p:cNvPr id="2" name="dept0">
            <a:extLst xmlns:a="http://schemas.openxmlformats.org/drawingml/2006/main">
              <a:ext uri="{FF2B5EF4-FFF2-40B4-BE49-F238E27FC236}">
                <a16:creationId xmlns:a16="http://schemas.microsoft.com/office/drawing/2014/main" id="{64373127-5D48-4402-80D2-37A6DA3BD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381125"/>
            <a:ext cx="447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76200" tIns="76200" rIns="76200" bIns="76200" anchor="t">
            <a:noAutofit/>
          </a:bodyPr>
          <a:lstStyle xmlns:a="http://schemas.openxmlformats.org/drawingml/2006/main">
            <a:defPPr algn="l">
              <a:defRPr sz="1950">
                <a:solidFill>
                  <a:srgbClr val="17324D"/>
                </a:solidFill>
                <a:latin typeface="맑은 고딕"/>
                <a:ea typeface="맑은 고딕"/>
                <a:cs typeface="맑은 고딕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950">
                <a:solidFill>
                  <a:srgbClr val="17324D"/>
                </a:solidFill>
                <a:latin typeface="맑은 고딕"/>
                <a:ea typeface="맑은 고딕"/>
                <a:cs typeface="맑은 고딕"/>
              </a:defRPr>
            </a:pPr>
            <a:r>
              <a:rPr sz="1950">
                <a:solidFill>
                  <a:srgbClr val="17324D"/>
                </a:solidFill>
                <a:latin typeface="맑은 고딕"/>
                <a:ea typeface="맑은 고딕"/>
                <a:cs typeface="맑은 고딕"/>
              </a:rPr>
              <a:t>영업관리본부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A34B1E-15E4-4A7D-A267-FF1215D42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876425"/>
            <a:ext cx="4476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7286"/>
          </a:solidFill>
          <a:ln xmlns:a="http://schemas.openxmlformats.org/drawingml/2006/main" w="0">
            <a:noFill/>
          </a:ln>
        </p:spPr>
      </p:sp>
      <p:sp>
        <p:nvSpPr>
          <p:cNvPr id="4" name="name00">
            <a:extLst xmlns:a="http://schemas.openxmlformats.org/drawingml/2006/main">
              <a:ext uri="{FF2B5EF4-FFF2-40B4-BE49-F238E27FC236}">
                <a16:creationId xmlns:a16="http://schemas.microsoft.com/office/drawing/2014/main" id="{2F6EF229-00E9-4B00-9817-54F628635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000250"/>
            <a:ext cx="452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76200" tIns="76200" rIns="76200" bIns="76200" anchor="t">
            <a:noAutofit/>
          </a:bodyPr>
          <a:lstStyle xmlns:a="http://schemas.openxmlformats.org/drawingml/2006/main">
            <a:defPPr algn="l">
              <a:defRPr sz="1650">
                <a:solidFill>
                  <a:srgbClr val="17324D"/>
                </a:solidFill>
                <a:latin typeface="맑은 고딕"/>
                <a:ea typeface="맑은 고딕"/>
                <a:cs typeface="맑은 고딕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650">
                <a:solidFill>
                  <a:srgbClr val="17324D"/>
                </a:solidFill>
                <a:latin typeface="맑은 고딕"/>
                <a:ea typeface="맑은 고딕"/>
                <a:cs typeface="맑은 고딕"/>
              </a:defRPr>
            </a:pPr>
            <a:r>
              <a:rPr sz="1650">
                <a:solidFill>
                  <a:srgbClr val="17324D"/>
                </a:solidFill>
                <a:latin typeface="맑은 고딕"/>
                <a:ea typeface="맑은 고딕"/>
                <a:cs typeface="맑은 고딕"/>
              </a:rPr>
              <a:t>신성호 부장</a:t>
            </a:r>
          </a:p>
        </p:txBody>
      </p:sp>
      <p:sp>
        <p:nvSpPr>
          <p:cNvPr id="5" name="job00">
            <a:extLst xmlns:a="http://schemas.openxmlformats.org/drawingml/2006/main">
              <a:ext uri="{FF2B5EF4-FFF2-40B4-BE49-F238E27FC236}">
                <a16:creationId xmlns:a16="http://schemas.microsoft.com/office/drawing/2014/main" id="{938760FD-8108-4537-88DF-6E8FE0223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276475"/>
            <a:ext cx="452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76200" tIns="76200" rIns="76200" bIns="76200" anchor="t">
            <a:noAutofit/>
          </a:bodyPr>
          <a:lstStyle xmlns:a="http://schemas.openxmlformats.org/drawingml/2006/main">
            <a:defPPr algn="l">
              <a:defRPr sz="1500">
                <a:solidFill>
                  <a:srgbClr val="53677A"/>
                </a:solidFill>
                <a:latin typeface="맑은 고딕"/>
                <a:ea typeface="맑은 고딕"/>
                <a:cs typeface="맑은 고딕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53677A"/>
                </a:solidFill>
                <a:latin typeface="맑은 고딕"/>
                <a:ea typeface="맑은 고딕"/>
                <a:cs typeface="맑은 고딕"/>
              </a:defRPr>
            </a:pPr>
            <a:r>
              <a:rPr sz="1500">
                <a:solidFill>
                  <a:srgbClr val="53677A"/>
                </a:solidFill>
                <a:latin typeface="맑은 고딕"/>
                <a:ea typeface="맑은 고딕"/>
                <a:cs typeface="맑은 고딕"/>
              </a:rPr>
              <a:t>고객관리 / 견적 / 수주 / 매출관리</a:t>
            </a:r>
          </a:p>
        </p:txBody>
      </p:sp>
      <p:sp>
        <p:nvSpPr>
          <p:cNvPr id="6" name="dept1">
            <a:extLst xmlns:a="http://schemas.openxmlformats.org/drawingml/2006/main">
              <a:ext uri="{FF2B5EF4-FFF2-40B4-BE49-F238E27FC236}">
                <a16:creationId xmlns:a16="http://schemas.microsoft.com/office/drawing/2014/main" id="{747F4C8F-F047-4A9F-A998-AA7284D88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1381125"/>
            <a:ext cx="447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76200" tIns="76200" rIns="76200" bIns="76200" anchor="t">
            <a:noAutofit/>
          </a:bodyPr>
          <a:lstStyle xmlns:a="http://schemas.openxmlformats.org/drawingml/2006/main">
            <a:defPPr algn="l">
              <a:defRPr sz="1950">
                <a:solidFill>
                  <a:srgbClr val="17324D"/>
                </a:solidFill>
                <a:latin typeface="맑은 고딕"/>
                <a:ea typeface="맑은 고딕"/>
                <a:cs typeface="맑은 고딕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950">
                <a:solidFill>
                  <a:srgbClr val="17324D"/>
                </a:solidFill>
                <a:latin typeface="맑은 고딕"/>
                <a:ea typeface="맑은 고딕"/>
                <a:cs typeface="맑은 고딕"/>
              </a:defRPr>
            </a:pPr>
            <a:r>
              <a:rPr sz="1950">
                <a:solidFill>
                  <a:srgbClr val="17324D"/>
                </a:solidFill>
                <a:latin typeface="맑은 고딕"/>
                <a:ea typeface="맑은 고딕"/>
                <a:cs typeface="맑은 고딕"/>
              </a:rPr>
              <a:t>생산본부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F7C283-70E9-4465-877A-A41788409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1876425"/>
            <a:ext cx="4476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7286"/>
          </a:solidFill>
          <a:ln xmlns:a="http://schemas.openxmlformats.org/drawingml/2006/main" w="0">
            <a:noFill/>
          </a:ln>
        </p:spPr>
      </p:sp>
      <p:sp>
        <p:nvSpPr>
          <p:cNvPr id="8" name="name10">
            <a:extLst xmlns:a="http://schemas.openxmlformats.org/drawingml/2006/main">
              <a:ext uri="{FF2B5EF4-FFF2-40B4-BE49-F238E27FC236}">
                <a16:creationId xmlns:a16="http://schemas.microsoft.com/office/drawing/2014/main" id="{FA1A7C96-711C-46A3-8B62-157A4A141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2000250"/>
            <a:ext cx="452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76200" tIns="76200" rIns="76200" bIns="76200" anchor="t">
            <a:noAutofit/>
          </a:bodyPr>
          <a:lstStyle xmlns:a="http://schemas.openxmlformats.org/drawingml/2006/main">
            <a:defPPr algn="l">
              <a:defRPr sz="1650">
                <a:solidFill>
                  <a:srgbClr val="17324D"/>
                </a:solidFill>
                <a:latin typeface="맑은 고딕"/>
                <a:ea typeface="맑은 고딕"/>
                <a:cs typeface="맑은 고딕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650">
                <a:solidFill>
                  <a:srgbClr val="17324D"/>
                </a:solidFill>
                <a:latin typeface="맑은 고딕"/>
                <a:ea typeface="맑은 고딕"/>
                <a:cs typeface="맑은 고딕"/>
              </a:defRPr>
            </a:pPr>
            <a:r>
              <a:rPr sz="1650">
                <a:solidFill>
                  <a:srgbClr val="17324D"/>
                </a:solidFill>
                <a:latin typeface="맑은 고딕"/>
                <a:ea typeface="맑은 고딕"/>
                <a:cs typeface="맑은 고딕"/>
              </a:rPr>
              <a:t>김흥수 이사</a:t>
            </a:r>
          </a:p>
        </p:txBody>
      </p:sp>
      <p:sp>
        <p:nvSpPr>
          <p:cNvPr id="9" name="job10">
            <a:extLst xmlns:a="http://schemas.openxmlformats.org/drawingml/2006/main">
              <a:ext uri="{FF2B5EF4-FFF2-40B4-BE49-F238E27FC236}">
                <a16:creationId xmlns:a16="http://schemas.microsoft.com/office/drawing/2014/main" id="{29C240A4-A3E1-4610-9C06-047FA6A5D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2276475"/>
            <a:ext cx="452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76200" tIns="76200" rIns="76200" bIns="76200" anchor="t">
            <a:noAutofit/>
          </a:bodyPr>
          <a:lstStyle xmlns:a="http://schemas.openxmlformats.org/drawingml/2006/main">
            <a:defPPr algn="l">
              <a:defRPr sz="1500">
                <a:solidFill>
                  <a:srgbClr val="53677A"/>
                </a:solidFill>
                <a:latin typeface="맑은 고딕"/>
                <a:ea typeface="맑은 고딕"/>
                <a:cs typeface="맑은 고딕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53677A"/>
                </a:solidFill>
                <a:latin typeface="맑은 고딕"/>
                <a:ea typeface="맑은 고딕"/>
                <a:cs typeface="맑은 고딕"/>
              </a:defRPr>
            </a:pPr>
            <a:r>
              <a:rPr sz="1500">
                <a:solidFill>
                  <a:srgbClr val="53677A"/>
                </a:solidFill>
                <a:latin typeface="맑은 고딕"/>
                <a:ea typeface="맑은 고딕"/>
                <a:cs typeface="맑은 고딕"/>
              </a:rPr>
              <a:t>공장 총괄 관리 / 생산인원관리</a:t>
            </a:r>
          </a:p>
        </p:txBody>
      </p:sp>
      <p:sp>
        <p:nvSpPr>
          <p:cNvPr id="10" name="name11">
            <a:extLst xmlns:a="http://schemas.openxmlformats.org/drawingml/2006/main">
              <a:ext uri="{FF2B5EF4-FFF2-40B4-BE49-F238E27FC236}">
                <a16:creationId xmlns:a16="http://schemas.microsoft.com/office/drawing/2014/main" id="{15ADBF32-B355-44CD-9345-58D979050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2590800"/>
            <a:ext cx="452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76200" tIns="76200" rIns="76200" bIns="76200" anchor="t">
            <a:noAutofit/>
          </a:bodyPr>
          <a:lstStyle xmlns:a="http://schemas.openxmlformats.org/drawingml/2006/main">
            <a:defPPr algn="l">
              <a:defRPr sz="1650">
                <a:solidFill>
                  <a:srgbClr val="17324D"/>
                </a:solidFill>
                <a:latin typeface="맑은 고딕"/>
                <a:ea typeface="맑은 고딕"/>
                <a:cs typeface="맑은 고딕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650">
                <a:solidFill>
                  <a:srgbClr val="17324D"/>
                </a:solidFill>
                <a:latin typeface="맑은 고딕"/>
                <a:ea typeface="맑은 고딕"/>
                <a:cs typeface="맑은 고딕"/>
              </a:defRPr>
            </a:pPr>
            <a:r>
              <a:rPr sz="1650">
                <a:solidFill>
                  <a:srgbClr val="17324D"/>
                </a:solidFill>
                <a:latin typeface="맑은 고딕"/>
                <a:ea typeface="맑은 고딕"/>
                <a:cs typeface="맑은 고딕"/>
              </a:rPr>
              <a:t>생산관리 · 지성규 부장(겸임)</a:t>
            </a:r>
          </a:p>
        </p:txBody>
      </p:sp>
      <p:sp>
        <p:nvSpPr>
          <p:cNvPr id="11" name="job11">
            <a:extLst xmlns:a="http://schemas.openxmlformats.org/drawingml/2006/main">
              <a:ext uri="{FF2B5EF4-FFF2-40B4-BE49-F238E27FC236}">
                <a16:creationId xmlns:a16="http://schemas.microsoft.com/office/drawing/2014/main" id="{4446F3FE-21D6-42E2-82BE-EF46179B7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2867025"/>
            <a:ext cx="452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76200" tIns="76200" rIns="76200" bIns="76200" anchor="t">
            <a:noAutofit/>
          </a:bodyPr>
          <a:lstStyle xmlns:a="http://schemas.openxmlformats.org/drawingml/2006/main">
            <a:defPPr algn="l">
              <a:defRPr sz="1500">
                <a:solidFill>
                  <a:srgbClr val="53677A"/>
                </a:solidFill>
                <a:latin typeface="맑은 고딕"/>
                <a:ea typeface="맑은 고딕"/>
                <a:cs typeface="맑은 고딕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53677A"/>
                </a:solidFill>
                <a:latin typeface="맑은 고딕"/>
                <a:ea typeface="맑은 고딕"/>
                <a:cs typeface="맑은 고딕"/>
              </a:defRPr>
            </a:pPr>
            <a:r>
              <a:rPr sz="1500">
                <a:solidFill>
                  <a:srgbClr val="53677A"/>
                </a:solidFill>
                <a:latin typeface="맑은 고딕"/>
                <a:ea typeface="맑은 고딕"/>
                <a:cs typeface="맑은 고딕"/>
              </a:rPr>
              <a:t>생산총괄 관리 / 생산계획 수립 / 재고관리</a:t>
            </a:r>
          </a:p>
        </p:txBody>
      </p:sp>
      <p:sp>
        <p:nvSpPr>
          <p:cNvPr id="12" name="name12">
            <a:extLst xmlns:a="http://schemas.openxmlformats.org/drawingml/2006/main">
              <a:ext uri="{FF2B5EF4-FFF2-40B4-BE49-F238E27FC236}">
                <a16:creationId xmlns:a16="http://schemas.microsoft.com/office/drawing/2014/main" id="{AFAAD346-303B-41C2-A2EF-5ACF6EE72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3181350"/>
            <a:ext cx="452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76200" tIns="76200" rIns="76200" bIns="76200" anchor="t">
            <a:noAutofit/>
          </a:bodyPr>
          <a:lstStyle xmlns:a="http://schemas.openxmlformats.org/drawingml/2006/main">
            <a:defPPr algn="l">
              <a:defRPr sz="1650">
                <a:solidFill>
                  <a:srgbClr val="17324D"/>
                </a:solidFill>
                <a:latin typeface="맑은 고딕"/>
                <a:ea typeface="맑은 고딕"/>
                <a:cs typeface="맑은 고딕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650">
                <a:solidFill>
                  <a:srgbClr val="17324D"/>
                </a:solidFill>
                <a:latin typeface="맑은 고딕"/>
                <a:ea typeface="맑은 고딕"/>
                <a:cs typeface="맑은 고딕"/>
              </a:defRPr>
            </a:pPr>
            <a:r>
              <a:rPr sz="1650">
                <a:solidFill>
                  <a:srgbClr val="17324D"/>
                </a:solidFill>
                <a:latin typeface="맑은 고딕"/>
                <a:ea typeface="맑은 고딕"/>
                <a:cs typeface="맑은 고딕"/>
              </a:rPr>
              <a:t>생산관리 · 이은주 주임</a:t>
            </a:r>
          </a:p>
        </p:txBody>
      </p:sp>
      <p:sp>
        <p:nvSpPr>
          <p:cNvPr id="13" name="job12">
            <a:extLst xmlns:a="http://schemas.openxmlformats.org/drawingml/2006/main">
              <a:ext uri="{FF2B5EF4-FFF2-40B4-BE49-F238E27FC236}">
                <a16:creationId xmlns:a16="http://schemas.microsoft.com/office/drawing/2014/main" id="{2447CEC5-7C30-4EAC-A39B-1C8B1419A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3457575"/>
            <a:ext cx="452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76200" tIns="76200" rIns="76200" bIns="76200" anchor="t">
            <a:noAutofit/>
          </a:bodyPr>
          <a:lstStyle xmlns:a="http://schemas.openxmlformats.org/drawingml/2006/main">
            <a:defPPr algn="l">
              <a:defRPr sz="1500">
                <a:solidFill>
                  <a:srgbClr val="53677A"/>
                </a:solidFill>
                <a:latin typeface="맑은 고딕"/>
                <a:ea typeface="맑은 고딕"/>
                <a:cs typeface="맑은 고딕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53677A"/>
                </a:solidFill>
                <a:latin typeface="맑은 고딕"/>
                <a:ea typeface="맑은 고딕"/>
                <a:cs typeface="맑은 고딕"/>
              </a:defRPr>
            </a:pPr>
            <a:r>
              <a:rPr sz="1500">
                <a:solidFill>
                  <a:srgbClr val="53677A"/>
                </a:solidFill>
                <a:latin typeface="맑은 고딕"/>
                <a:ea typeface="맑은 고딕"/>
                <a:cs typeface="맑은 고딕"/>
              </a:rPr>
              <a:t>협력사 발주 / 원자재관리</a:t>
            </a:r>
          </a:p>
        </p:txBody>
      </p:sp>
      <p:sp>
        <p:nvSpPr>
          <p:cNvPr id="14" name="name13">
            <a:extLst xmlns:a="http://schemas.openxmlformats.org/drawingml/2006/main">
              <a:ext uri="{FF2B5EF4-FFF2-40B4-BE49-F238E27FC236}">
                <a16:creationId xmlns:a16="http://schemas.microsoft.com/office/drawing/2014/main" id="{E8A0756D-BC34-4273-A4C0-307E99D17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3771900"/>
            <a:ext cx="452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76200" tIns="76200" rIns="76200" bIns="76200" anchor="t">
            <a:noAutofit/>
          </a:bodyPr>
          <a:lstStyle xmlns:a="http://schemas.openxmlformats.org/drawingml/2006/main">
            <a:defPPr algn="l">
              <a:defRPr sz="1650">
                <a:solidFill>
                  <a:srgbClr val="17324D"/>
                </a:solidFill>
                <a:latin typeface="맑은 고딕"/>
                <a:ea typeface="맑은 고딕"/>
                <a:cs typeface="맑은 고딕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650">
                <a:solidFill>
                  <a:srgbClr val="17324D"/>
                </a:solidFill>
                <a:latin typeface="맑은 고딕"/>
                <a:ea typeface="맑은 고딕"/>
                <a:cs typeface="맑은 고딕"/>
              </a:defRPr>
            </a:pPr>
            <a:r>
              <a:rPr sz="1650">
                <a:solidFill>
                  <a:srgbClr val="17324D"/>
                </a:solidFill>
                <a:latin typeface="맑은 고딕"/>
                <a:ea typeface="맑은 고딕"/>
                <a:cs typeface="맑은 고딕"/>
              </a:rPr>
              <a:t>생산팀 · 지성규 부장</a:t>
            </a:r>
          </a:p>
        </p:txBody>
      </p:sp>
      <p:sp>
        <p:nvSpPr>
          <p:cNvPr id="15" name="job13">
            <a:extLst xmlns:a="http://schemas.openxmlformats.org/drawingml/2006/main">
              <a:ext uri="{FF2B5EF4-FFF2-40B4-BE49-F238E27FC236}">
                <a16:creationId xmlns:a16="http://schemas.microsoft.com/office/drawing/2014/main" id="{AB7D1D8D-F8BB-44C5-908E-0C59AEA4D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4048125"/>
            <a:ext cx="452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76200" tIns="76200" rIns="76200" bIns="76200" anchor="t">
            <a:noAutofit/>
          </a:bodyPr>
          <a:lstStyle xmlns:a="http://schemas.openxmlformats.org/drawingml/2006/main">
            <a:defPPr algn="l">
              <a:defRPr sz="1500">
                <a:solidFill>
                  <a:srgbClr val="53677A"/>
                </a:solidFill>
                <a:latin typeface="맑은 고딕"/>
                <a:ea typeface="맑은 고딕"/>
                <a:cs typeface="맑은 고딕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53677A"/>
                </a:solidFill>
                <a:latin typeface="맑은 고딕"/>
                <a:ea typeface="맑은 고딕"/>
                <a:cs typeface="맑은 고딕"/>
              </a:defRPr>
            </a:pPr>
            <a:r>
              <a:rPr sz="1500">
                <a:solidFill>
                  <a:srgbClr val="53677A"/>
                </a:solidFill>
                <a:latin typeface="맑은 고딕"/>
                <a:ea typeface="맑은 고딕"/>
                <a:cs typeface="맑은 고딕"/>
              </a:rPr>
              <a:t>생산총괄 관리 / 생산계획 수립 / 재고관리</a:t>
            </a:r>
          </a:p>
        </p:txBody>
      </p:sp>
      <p:sp>
        <p:nvSpPr>
          <p:cNvPr id="16" name="name14">
            <a:extLst xmlns:a="http://schemas.openxmlformats.org/drawingml/2006/main">
              <a:ext uri="{FF2B5EF4-FFF2-40B4-BE49-F238E27FC236}">
                <a16:creationId xmlns:a16="http://schemas.microsoft.com/office/drawing/2014/main" id="{3CECFB46-7844-4EC4-8D3D-87D1A96AC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4362450"/>
            <a:ext cx="452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76200" tIns="76200" rIns="76200" bIns="76200" anchor="t">
            <a:noAutofit/>
          </a:bodyPr>
          <a:lstStyle xmlns:a="http://schemas.openxmlformats.org/drawingml/2006/main">
            <a:defPPr algn="l">
              <a:defRPr sz="1650">
                <a:solidFill>
                  <a:srgbClr val="17324D"/>
                </a:solidFill>
                <a:latin typeface="맑은 고딕"/>
                <a:ea typeface="맑은 고딕"/>
                <a:cs typeface="맑은 고딕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650">
                <a:solidFill>
                  <a:srgbClr val="17324D"/>
                </a:solidFill>
                <a:latin typeface="맑은 고딕"/>
                <a:ea typeface="맑은 고딕"/>
                <a:cs typeface="맑은 고딕"/>
              </a:defRPr>
            </a:pPr>
            <a:r>
              <a:rPr sz="1650">
                <a:solidFill>
                  <a:srgbClr val="17324D"/>
                </a:solidFill>
                <a:latin typeface="맑은 고딕"/>
                <a:ea typeface="맑은 고딕"/>
                <a:cs typeface="맑은 고딕"/>
              </a:rPr>
              <a:t>생산팀 · 황지환 차장</a:t>
            </a:r>
          </a:p>
        </p:txBody>
      </p:sp>
      <p:sp>
        <p:nvSpPr>
          <p:cNvPr id="17" name="job14">
            <a:extLst xmlns:a="http://schemas.openxmlformats.org/drawingml/2006/main">
              <a:ext uri="{FF2B5EF4-FFF2-40B4-BE49-F238E27FC236}">
                <a16:creationId xmlns:a16="http://schemas.microsoft.com/office/drawing/2014/main" id="{12E407AB-CF8B-4FF6-9BE9-19888FE1E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4638675"/>
            <a:ext cx="452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76200" tIns="76200" rIns="76200" bIns="76200" anchor="t">
            <a:noAutofit/>
          </a:bodyPr>
          <a:lstStyle xmlns:a="http://schemas.openxmlformats.org/drawingml/2006/main">
            <a:defPPr algn="l">
              <a:defRPr sz="1500">
                <a:solidFill>
                  <a:srgbClr val="53677A"/>
                </a:solidFill>
                <a:latin typeface="맑은 고딕"/>
                <a:ea typeface="맑은 고딕"/>
                <a:cs typeface="맑은 고딕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53677A"/>
                </a:solidFill>
                <a:latin typeface="맑은 고딕"/>
                <a:ea typeface="맑은 고딕"/>
                <a:cs typeface="맑은 고딕"/>
              </a:defRPr>
            </a:pPr>
            <a:r>
              <a:rPr sz="1500">
                <a:solidFill>
                  <a:srgbClr val="53677A"/>
                </a:solidFill>
                <a:latin typeface="맑은 고딕"/>
                <a:ea typeface="맑은 고딕"/>
                <a:cs typeface="맑은 고딕"/>
              </a:rPr>
              <a:t>설비관리 / 금형관리</a:t>
            </a:r>
          </a:p>
        </p:txBody>
      </p:sp>
      <p:sp>
        <p:nvSpPr>
          <p:cNvPr id="18" name="name15">
            <a:extLst xmlns:a="http://schemas.openxmlformats.org/drawingml/2006/main">
              <a:ext uri="{FF2B5EF4-FFF2-40B4-BE49-F238E27FC236}">
                <a16:creationId xmlns:a16="http://schemas.microsoft.com/office/drawing/2014/main" id="{E8835488-7A4A-4866-A0FD-A058D3C5B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4953000"/>
            <a:ext cx="452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76200" tIns="76200" rIns="76200" bIns="76200" anchor="t">
            <a:noAutofit/>
          </a:bodyPr>
          <a:lstStyle xmlns:a="http://schemas.openxmlformats.org/drawingml/2006/main">
            <a:defPPr algn="l">
              <a:defRPr sz="1650">
                <a:solidFill>
                  <a:srgbClr val="17324D"/>
                </a:solidFill>
                <a:latin typeface="맑은 고딕"/>
                <a:ea typeface="맑은 고딕"/>
                <a:cs typeface="맑은 고딕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650">
                <a:solidFill>
                  <a:srgbClr val="17324D"/>
                </a:solidFill>
                <a:latin typeface="맑은 고딕"/>
                <a:ea typeface="맑은 고딕"/>
                <a:cs typeface="맑은 고딕"/>
              </a:defRPr>
            </a:pPr>
            <a:r>
              <a:rPr sz="1650">
                <a:solidFill>
                  <a:srgbClr val="17324D"/>
                </a:solidFill>
                <a:latin typeface="맑은 고딕"/>
                <a:ea typeface="맑은 고딕"/>
                <a:cs typeface="맑은 고딕"/>
              </a:rPr>
              <a:t>자재관리 · 이재황 주임</a:t>
            </a:r>
          </a:p>
        </p:txBody>
      </p:sp>
      <p:sp>
        <p:nvSpPr>
          <p:cNvPr id="19" name="job15">
            <a:extLst xmlns:a="http://schemas.openxmlformats.org/drawingml/2006/main">
              <a:ext uri="{FF2B5EF4-FFF2-40B4-BE49-F238E27FC236}">
                <a16:creationId xmlns:a16="http://schemas.microsoft.com/office/drawing/2014/main" id="{7596FC40-8B6C-4E57-BB04-C16A500C2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5229225"/>
            <a:ext cx="452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76200" tIns="76200" rIns="76200" bIns="76200" anchor="t">
            <a:noAutofit/>
          </a:bodyPr>
          <a:lstStyle xmlns:a="http://schemas.openxmlformats.org/drawingml/2006/main">
            <a:defPPr algn="l">
              <a:defRPr sz="1500">
                <a:solidFill>
                  <a:srgbClr val="53677A"/>
                </a:solidFill>
                <a:latin typeface="맑은 고딕"/>
                <a:ea typeface="맑은 고딕"/>
                <a:cs typeface="맑은 고딕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53677A"/>
                </a:solidFill>
                <a:latin typeface="맑은 고딕"/>
                <a:ea typeface="맑은 고딕"/>
                <a:cs typeface="맑은 고딕"/>
              </a:defRPr>
            </a:pPr>
            <a:r>
              <a:rPr sz="1500">
                <a:solidFill>
                  <a:srgbClr val="53677A"/>
                </a:solidFill>
                <a:latin typeface="맑은 고딕"/>
                <a:ea typeface="맑은 고딕"/>
                <a:cs typeface="맑은 고딕"/>
              </a:rPr>
              <a:t>자재관리 / 출하관리</a:t>
            </a:r>
          </a:p>
        </p:txBody>
      </p:sp>
      <p:sp>
        <p:nvSpPr>
          <p:cNvPr id="20" name="name16">
            <a:extLst xmlns:a="http://schemas.openxmlformats.org/drawingml/2006/main">
              <a:ext uri="{FF2B5EF4-FFF2-40B4-BE49-F238E27FC236}">
                <a16:creationId xmlns:a16="http://schemas.microsoft.com/office/drawing/2014/main" id="{4DED3AF0-93EF-4599-83D2-A443F6E4D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5543550"/>
            <a:ext cx="452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76200" tIns="76200" rIns="76200" bIns="76200" anchor="t">
            <a:noAutofit/>
          </a:bodyPr>
          <a:lstStyle xmlns:a="http://schemas.openxmlformats.org/drawingml/2006/main">
            <a:defPPr algn="l">
              <a:defRPr sz="1650">
                <a:solidFill>
                  <a:srgbClr val="17324D"/>
                </a:solidFill>
                <a:latin typeface="맑은 고딕"/>
                <a:ea typeface="맑은 고딕"/>
                <a:cs typeface="맑은 고딕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650">
                <a:solidFill>
                  <a:srgbClr val="17324D"/>
                </a:solidFill>
                <a:latin typeface="맑은 고딕"/>
                <a:ea typeface="맑은 고딕"/>
                <a:cs typeface="맑은 고딕"/>
              </a:defRPr>
            </a:pPr>
            <a:r>
              <a:rPr sz="1650">
                <a:solidFill>
                  <a:srgbClr val="17324D"/>
                </a:solidFill>
                <a:latin typeface="맑은 고딕"/>
                <a:ea typeface="맑은 고딕"/>
                <a:cs typeface="맑은 고딕"/>
              </a:rPr>
              <a:t>자재관리 · 신현진 사원</a:t>
            </a:r>
          </a:p>
        </p:txBody>
      </p:sp>
      <p:sp>
        <p:nvSpPr>
          <p:cNvPr id="21" name="job16">
            <a:extLst xmlns:a="http://schemas.openxmlformats.org/drawingml/2006/main">
              <a:ext uri="{FF2B5EF4-FFF2-40B4-BE49-F238E27FC236}">
                <a16:creationId xmlns:a16="http://schemas.microsoft.com/office/drawing/2014/main" id="{7E0CE367-0121-406B-94DF-59BBCFB1F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5819775"/>
            <a:ext cx="452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76200" tIns="76200" rIns="76200" bIns="76200" anchor="t">
            <a:noAutofit/>
          </a:bodyPr>
          <a:lstStyle xmlns:a="http://schemas.openxmlformats.org/drawingml/2006/main">
            <a:defPPr algn="l">
              <a:defRPr sz="1500">
                <a:solidFill>
                  <a:srgbClr val="53677A"/>
                </a:solidFill>
                <a:latin typeface="맑은 고딕"/>
                <a:ea typeface="맑은 고딕"/>
                <a:cs typeface="맑은 고딕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53677A"/>
                </a:solidFill>
                <a:latin typeface="맑은 고딕"/>
                <a:ea typeface="맑은 고딕"/>
                <a:cs typeface="맑은 고딕"/>
              </a:defRPr>
            </a:pPr>
            <a:r>
              <a:rPr sz="1500">
                <a:solidFill>
                  <a:srgbClr val="53677A"/>
                </a:solidFill>
                <a:latin typeface="맑은 고딕"/>
                <a:ea typeface="맑은 고딕"/>
                <a:cs typeface="맑은 고딕"/>
              </a:rPr>
              <a:t>자재관리 / 출하관리</a:t>
            </a:r>
          </a:p>
        </p:txBody>
      </p:sp>
      <p:sp>
        <p:nvSpPr>
          <p:cNvPr id="22" name="dept2">
            <a:extLst xmlns:a="http://schemas.openxmlformats.org/drawingml/2006/main">
              <a:ext uri="{FF2B5EF4-FFF2-40B4-BE49-F238E27FC236}">
                <a16:creationId xmlns:a16="http://schemas.microsoft.com/office/drawing/2014/main" id="{DF8570A3-69DF-4D72-BA12-C31F969DD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1381125"/>
            <a:ext cx="447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76200" tIns="76200" rIns="76200" bIns="76200" anchor="t">
            <a:noAutofit/>
          </a:bodyPr>
          <a:lstStyle xmlns:a="http://schemas.openxmlformats.org/drawingml/2006/main">
            <a:defPPr algn="l">
              <a:defRPr sz="1950">
                <a:solidFill>
                  <a:srgbClr val="17324D"/>
                </a:solidFill>
                <a:latin typeface="맑은 고딕"/>
                <a:ea typeface="맑은 고딕"/>
                <a:cs typeface="맑은 고딕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950">
                <a:solidFill>
                  <a:srgbClr val="17324D"/>
                </a:solidFill>
                <a:latin typeface="맑은 고딕"/>
                <a:ea typeface="맑은 고딕"/>
                <a:cs typeface="맑은 고딕"/>
              </a:defRPr>
            </a:pPr>
            <a:r>
              <a:rPr sz="1950">
                <a:solidFill>
                  <a:srgbClr val="17324D"/>
                </a:solidFill>
                <a:latin typeface="맑은 고딕"/>
                <a:ea typeface="맑은 고딕"/>
                <a:cs typeface="맑은 고딕"/>
              </a:rPr>
              <a:t>연구소/개발본부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D4123A6-CB97-44DC-B14B-EF15A86FF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1876425"/>
            <a:ext cx="4476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7286"/>
          </a:solidFill>
          <a:ln xmlns:a="http://schemas.openxmlformats.org/drawingml/2006/main" w="0">
            <a:noFill/>
          </a:ln>
        </p:spPr>
      </p:sp>
      <p:sp>
        <p:nvSpPr>
          <p:cNvPr id="24" name="name20">
            <a:extLst xmlns:a="http://schemas.openxmlformats.org/drawingml/2006/main">
              <a:ext uri="{FF2B5EF4-FFF2-40B4-BE49-F238E27FC236}">
                <a16:creationId xmlns:a16="http://schemas.microsoft.com/office/drawing/2014/main" id="{17FCF873-1377-480D-A898-4ABB2FF3A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2000250"/>
            <a:ext cx="452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76200" tIns="76200" rIns="76200" bIns="76200" anchor="t">
            <a:noAutofit/>
          </a:bodyPr>
          <a:lstStyle xmlns:a="http://schemas.openxmlformats.org/drawingml/2006/main">
            <a:defPPr algn="l">
              <a:defRPr sz="1650">
                <a:solidFill>
                  <a:srgbClr val="17324D"/>
                </a:solidFill>
                <a:latin typeface="맑은 고딕"/>
                <a:ea typeface="맑은 고딕"/>
                <a:cs typeface="맑은 고딕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650">
                <a:solidFill>
                  <a:srgbClr val="17324D"/>
                </a:solidFill>
                <a:latin typeface="맑은 고딕"/>
                <a:ea typeface="맑은 고딕"/>
                <a:cs typeface="맑은 고딕"/>
              </a:defRPr>
            </a:pPr>
            <a:r>
              <a:rPr sz="1650">
                <a:solidFill>
                  <a:srgbClr val="17324D"/>
                </a:solidFill>
                <a:latin typeface="맑은 고딕"/>
                <a:ea typeface="맑은 고딕"/>
                <a:cs typeface="맑은 고딕"/>
              </a:rPr>
              <a:t>김주태 이사</a:t>
            </a:r>
          </a:p>
        </p:txBody>
      </p:sp>
      <p:sp>
        <p:nvSpPr>
          <p:cNvPr id="25" name="job20">
            <a:extLst xmlns:a="http://schemas.openxmlformats.org/drawingml/2006/main">
              <a:ext uri="{FF2B5EF4-FFF2-40B4-BE49-F238E27FC236}">
                <a16:creationId xmlns:a16="http://schemas.microsoft.com/office/drawing/2014/main" id="{91600A11-552C-4C96-AAB6-4AA09456F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2276475"/>
            <a:ext cx="452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76200" tIns="76200" rIns="76200" bIns="76200" anchor="t">
            <a:noAutofit/>
          </a:bodyPr>
          <a:lstStyle xmlns:a="http://schemas.openxmlformats.org/drawingml/2006/main">
            <a:defPPr algn="l">
              <a:defRPr sz="1500">
                <a:solidFill>
                  <a:srgbClr val="53677A"/>
                </a:solidFill>
                <a:latin typeface="맑은 고딕"/>
                <a:ea typeface="맑은 고딕"/>
                <a:cs typeface="맑은 고딕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53677A"/>
                </a:solidFill>
                <a:latin typeface="맑은 고딕"/>
                <a:ea typeface="맑은 고딕"/>
                <a:cs typeface="맑은 고딕"/>
              </a:defRPr>
            </a:pPr>
            <a:r>
              <a:rPr sz="1500">
                <a:solidFill>
                  <a:srgbClr val="53677A"/>
                </a:solidFill>
                <a:latin typeface="맑은 고딕"/>
                <a:ea typeface="맑은 고딕"/>
                <a:cs typeface="맑은 고딕"/>
              </a:rPr>
              <a:t>신규개발관리 / 기술개발 / 설계변경관리</a:t>
            </a:r>
          </a:p>
        </p:txBody>
      </p:sp>
      <p:sp>
        <p:nvSpPr>
          <p:cNvPr id="26" name="name21">
            <a:extLst xmlns:a="http://schemas.openxmlformats.org/drawingml/2006/main">
              <a:ext uri="{FF2B5EF4-FFF2-40B4-BE49-F238E27FC236}">
                <a16:creationId xmlns:a16="http://schemas.microsoft.com/office/drawing/2014/main" id="{8F564BC0-9286-4F9A-8DEE-38B600191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2590800"/>
            <a:ext cx="452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76200" tIns="76200" rIns="76200" bIns="76200" anchor="t">
            <a:noAutofit/>
          </a:bodyPr>
          <a:lstStyle xmlns:a="http://schemas.openxmlformats.org/drawingml/2006/main">
            <a:defPPr algn="l">
              <a:defRPr sz="1650">
                <a:solidFill>
                  <a:srgbClr val="17324D"/>
                </a:solidFill>
                <a:latin typeface="맑은 고딕"/>
                <a:ea typeface="맑은 고딕"/>
                <a:cs typeface="맑은 고딕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650">
                <a:solidFill>
                  <a:srgbClr val="17324D"/>
                </a:solidFill>
                <a:latin typeface="맑은 고딕"/>
                <a:ea typeface="맑은 고딕"/>
                <a:cs typeface="맑은 고딕"/>
              </a:defRPr>
            </a:pPr>
            <a:r>
              <a:rPr sz="1650">
                <a:solidFill>
                  <a:srgbClr val="17324D"/>
                </a:solidFill>
                <a:latin typeface="맑은 고딕"/>
                <a:ea typeface="맑은 고딕"/>
                <a:cs typeface="맑은 고딕"/>
              </a:rPr>
              <a:t>개발팀장 · 한상돈 부장</a:t>
            </a:r>
          </a:p>
        </p:txBody>
      </p:sp>
      <p:sp>
        <p:nvSpPr>
          <p:cNvPr id="27" name="job21">
            <a:extLst xmlns:a="http://schemas.openxmlformats.org/drawingml/2006/main">
              <a:ext uri="{FF2B5EF4-FFF2-40B4-BE49-F238E27FC236}">
                <a16:creationId xmlns:a16="http://schemas.microsoft.com/office/drawing/2014/main" id="{139C43C2-1367-4833-97F1-D29343D74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2867025"/>
            <a:ext cx="452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76200" tIns="76200" rIns="76200" bIns="76200" anchor="t">
            <a:noAutofit/>
          </a:bodyPr>
          <a:lstStyle xmlns:a="http://schemas.openxmlformats.org/drawingml/2006/main">
            <a:defPPr algn="l">
              <a:defRPr sz="1500">
                <a:solidFill>
                  <a:srgbClr val="53677A"/>
                </a:solidFill>
                <a:latin typeface="맑은 고딕"/>
                <a:ea typeface="맑은 고딕"/>
                <a:cs typeface="맑은 고딕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53677A"/>
                </a:solidFill>
                <a:latin typeface="맑은 고딕"/>
                <a:ea typeface="맑은 고딕"/>
                <a:cs typeface="맑은 고딕"/>
              </a:defRPr>
            </a:pPr>
            <a:r>
              <a:rPr sz="1500">
                <a:solidFill>
                  <a:srgbClr val="53677A"/>
                </a:solidFill>
                <a:latin typeface="맑은 고딕"/>
                <a:ea typeface="맑은 고딕"/>
                <a:cs typeface="맑은 고딕"/>
              </a:rPr>
              <a:t>신규개발관리 / 기술개발 / 설계변경관리</a:t>
            </a:r>
          </a:p>
        </p:txBody>
      </p:sp>
      <p:sp>
        <p:nvSpPr>
          <p:cNvPr id="28" name="name22">
            <a:extLst xmlns:a="http://schemas.openxmlformats.org/drawingml/2006/main">
              <a:ext uri="{FF2B5EF4-FFF2-40B4-BE49-F238E27FC236}">
                <a16:creationId xmlns:a16="http://schemas.microsoft.com/office/drawing/2014/main" id="{D074B6BE-E902-4072-AEBA-E19B00853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3181350"/>
            <a:ext cx="452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76200" tIns="76200" rIns="76200" bIns="76200" anchor="t">
            <a:noAutofit/>
          </a:bodyPr>
          <a:lstStyle xmlns:a="http://schemas.openxmlformats.org/drawingml/2006/main">
            <a:defPPr algn="l">
              <a:defRPr sz="1650">
                <a:solidFill>
                  <a:srgbClr val="17324D"/>
                </a:solidFill>
                <a:latin typeface="맑은 고딕"/>
                <a:ea typeface="맑은 고딕"/>
                <a:cs typeface="맑은 고딕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650">
                <a:solidFill>
                  <a:srgbClr val="17324D"/>
                </a:solidFill>
                <a:latin typeface="맑은 고딕"/>
                <a:ea typeface="맑은 고딕"/>
                <a:cs typeface="맑은 고딕"/>
              </a:defRPr>
            </a:pPr>
            <a:r>
              <a:rPr sz="1650">
                <a:solidFill>
                  <a:srgbClr val="17324D"/>
                </a:solidFill>
                <a:latin typeface="맑은 고딕"/>
                <a:ea typeface="맑은 고딕"/>
                <a:cs typeface="맑은 고딕"/>
              </a:rPr>
              <a:t>최윤서 과장</a:t>
            </a:r>
          </a:p>
        </p:txBody>
      </p:sp>
      <p:sp>
        <p:nvSpPr>
          <p:cNvPr id="29" name="job22">
            <a:extLst xmlns:a="http://schemas.openxmlformats.org/drawingml/2006/main">
              <a:ext uri="{FF2B5EF4-FFF2-40B4-BE49-F238E27FC236}">
                <a16:creationId xmlns:a16="http://schemas.microsoft.com/office/drawing/2014/main" id="{67BAE034-3EBA-44F0-927A-B5630138F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3457575"/>
            <a:ext cx="452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76200" tIns="76200" rIns="76200" bIns="76200" anchor="t">
            <a:noAutofit/>
          </a:bodyPr>
          <a:lstStyle xmlns:a="http://schemas.openxmlformats.org/drawingml/2006/main">
            <a:defPPr algn="l">
              <a:defRPr sz="1500">
                <a:solidFill>
                  <a:srgbClr val="53677A"/>
                </a:solidFill>
                <a:latin typeface="맑은 고딕"/>
                <a:ea typeface="맑은 고딕"/>
                <a:cs typeface="맑은 고딕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53677A"/>
                </a:solidFill>
                <a:latin typeface="맑은 고딕"/>
                <a:ea typeface="맑은 고딕"/>
                <a:cs typeface="맑은 고딕"/>
              </a:defRPr>
            </a:pPr>
            <a:r>
              <a:rPr sz="1500">
                <a:solidFill>
                  <a:srgbClr val="53677A"/>
                </a:solidFill>
                <a:latin typeface="맑은 고딕"/>
                <a:ea typeface="맑은 고딕"/>
                <a:cs typeface="맑은 고딕"/>
              </a:rPr>
              <a:t>신규개발관리 / 기술개발 / 설계변경관리</a:t>
            </a:r>
          </a:p>
        </p:txBody>
      </p:sp>
      <p:sp>
        <p:nvSpPr>
          <p:cNvPr id="30" name="name23">
            <a:extLst xmlns:a="http://schemas.openxmlformats.org/drawingml/2006/main">
              <a:ext uri="{FF2B5EF4-FFF2-40B4-BE49-F238E27FC236}">
                <a16:creationId xmlns:a16="http://schemas.microsoft.com/office/drawing/2014/main" id="{77C233F3-78B8-45F2-8DFA-CAB63B664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3771900"/>
            <a:ext cx="452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76200" tIns="76200" rIns="76200" bIns="76200" anchor="t">
            <a:noAutofit/>
          </a:bodyPr>
          <a:lstStyle xmlns:a="http://schemas.openxmlformats.org/drawingml/2006/main">
            <a:defPPr algn="l">
              <a:defRPr sz="1650">
                <a:solidFill>
                  <a:srgbClr val="17324D"/>
                </a:solidFill>
                <a:latin typeface="맑은 고딕"/>
                <a:ea typeface="맑은 고딕"/>
                <a:cs typeface="맑은 고딕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650">
                <a:solidFill>
                  <a:srgbClr val="17324D"/>
                </a:solidFill>
                <a:latin typeface="맑은 고딕"/>
                <a:ea typeface="맑은 고딕"/>
                <a:cs typeface="맑은 고딕"/>
              </a:defRPr>
            </a:pPr>
            <a:r>
              <a:rPr sz="1650">
                <a:solidFill>
                  <a:srgbClr val="17324D"/>
                </a:solidFill>
                <a:latin typeface="맑은 고딕"/>
                <a:ea typeface="맑은 고딕"/>
                <a:cs typeface="맑은 고딕"/>
              </a:rPr>
              <a:t>최형진 사원</a:t>
            </a:r>
          </a:p>
        </p:txBody>
      </p:sp>
      <p:sp>
        <p:nvSpPr>
          <p:cNvPr id="31" name="job23">
            <a:extLst xmlns:a="http://schemas.openxmlformats.org/drawingml/2006/main">
              <a:ext uri="{FF2B5EF4-FFF2-40B4-BE49-F238E27FC236}">
                <a16:creationId xmlns:a16="http://schemas.microsoft.com/office/drawing/2014/main" id="{25B96B86-6BC0-4553-8D64-82ACE2689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4048125"/>
            <a:ext cx="452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76200" tIns="76200" rIns="76200" bIns="76200" anchor="t">
            <a:noAutofit/>
          </a:bodyPr>
          <a:lstStyle xmlns:a="http://schemas.openxmlformats.org/drawingml/2006/main">
            <a:defPPr algn="l">
              <a:defRPr sz="1500">
                <a:solidFill>
                  <a:srgbClr val="53677A"/>
                </a:solidFill>
                <a:latin typeface="맑은 고딕"/>
                <a:ea typeface="맑은 고딕"/>
                <a:cs typeface="맑은 고딕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53677A"/>
                </a:solidFill>
                <a:latin typeface="맑은 고딕"/>
                <a:ea typeface="맑은 고딕"/>
                <a:cs typeface="맑은 고딕"/>
              </a:defRPr>
            </a:pPr>
            <a:r>
              <a:rPr sz="1500">
                <a:solidFill>
                  <a:srgbClr val="53677A"/>
                </a:solidFill>
                <a:latin typeface="맑은 고딕"/>
                <a:ea typeface="맑은 고딕"/>
                <a:cs typeface="맑은 고딕"/>
              </a:rPr>
              <a:t>신규개발관리 / 기술개발 / 설계변경관리</a:t>
            </a:r>
          </a:p>
        </p:txBody>
      </p:sp>
      <p:sp>
        <p:nvSpPr>
          <p:cNvPr id="32" name="dept3">
            <a:extLst xmlns:a="http://schemas.openxmlformats.org/drawingml/2006/main">
              <a:ext uri="{FF2B5EF4-FFF2-40B4-BE49-F238E27FC236}">
                <a16:creationId xmlns:a16="http://schemas.microsoft.com/office/drawing/2014/main" id="{32A884EC-FD36-4D2D-A8A5-16D0A8E69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381750"/>
            <a:ext cx="447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76200" tIns="76200" rIns="76200" bIns="76200" anchor="t">
            <a:noAutofit/>
          </a:bodyPr>
          <a:lstStyle xmlns:a="http://schemas.openxmlformats.org/drawingml/2006/main">
            <a:defPPr algn="l">
              <a:defRPr sz="1950">
                <a:solidFill>
                  <a:srgbClr val="17324D"/>
                </a:solidFill>
                <a:latin typeface="맑은 고딕"/>
                <a:ea typeface="맑은 고딕"/>
                <a:cs typeface="맑은 고딕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950">
                <a:solidFill>
                  <a:srgbClr val="17324D"/>
                </a:solidFill>
                <a:latin typeface="맑은 고딕"/>
                <a:ea typeface="맑은 고딕"/>
                <a:cs typeface="맑은 고딕"/>
              </a:defRPr>
            </a:pPr>
            <a:r>
              <a:rPr sz="1950">
                <a:solidFill>
                  <a:srgbClr val="17324D"/>
                </a:solidFill>
                <a:latin typeface="맑은 고딕"/>
                <a:ea typeface="맑은 고딕"/>
                <a:cs typeface="맑은 고딕"/>
              </a:rPr>
              <a:t>품질경영본부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C318171-9F4D-4C62-A018-03E1710E5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877050"/>
            <a:ext cx="4476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7286"/>
          </a:solidFill>
          <a:ln xmlns:a="http://schemas.openxmlformats.org/drawingml/2006/main" w="0">
            <a:noFill/>
          </a:ln>
        </p:spPr>
      </p:sp>
      <p:sp>
        <p:nvSpPr>
          <p:cNvPr id="34" name="name30">
            <a:extLst xmlns:a="http://schemas.openxmlformats.org/drawingml/2006/main">
              <a:ext uri="{FF2B5EF4-FFF2-40B4-BE49-F238E27FC236}">
                <a16:creationId xmlns:a16="http://schemas.microsoft.com/office/drawing/2014/main" id="{80C146B5-A59F-4046-8A73-6CA150488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7000875"/>
            <a:ext cx="452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76200" tIns="76200" rIns="76200" bIns="76200" anchor="t">
            <a:noAutofit/>
          </a:bodyPr>
          <a:lstStyle xmlns:a="http://schemas.openxmlformats.org/drawingml/2006/main">
            <a:defPPr algn="l">
              <a:defRPr sz="1650">
                <a:solidFill>
                  <a:srgbClr val="17324D"/>
                </a:solidFill>
                <a:latin typeface="맑은 고딕"/>
                <a:ea typeface="맑은 고딕"/>
                <a:cs typeface="맑은 고딕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650">
                <a:solidFill>
                  <a:srgbClr val="17324D"/>
                </a:solidFill>
                <a:latin typeface="맑은 고딕"/>
                <a:ea typeface="맑은 고딕"/>
                <a:cs typeface="맑은 고딕"/>
              </a:defRPr>
            </a:pPr>
            <a:r>
              <a:rPr sz="1650">
                <a:solidFill>
                  <a:srgbClr val="17324D"/>
                </a:solidFill>
                <a:latin typeface="맑은 고딕"/>
                <a:ea typeface="맑은 고딕"/>
                <a:cs typeface="맑은 고딕"/>
              </a:rPr>
              <a:t>김주태 이사(겸임)</a:t>
            </a:r>
          </a:p>
        </p:txBody>
      </p:sp>
      <p:sp>
        <p:nvSpPr>
          <p:cNvPr id="35" name="job30">
            <a:extLst xmlns:a="http://schemas.openxmlformats.org/drawingml/2006/main">
              <a:ext uri="{FF2B5EF4-FFF2-40B4-BE49-F238E27FC236}">
                <a16:creationId xmlns:a16="http://schemas.microsoft.com/office/drawing/2014/main" id="{F47085DC-6ECB-4904-832C-1072346E9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7277100"/>
            <a:ext cx="452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76200" tIns="76200" rIns="76200" bIns="76200" anchor="t">
            <a:noAutofit/>
          </a:bodyPr>
          <a:lstStyle xmlns:a="http://schemas.openxmlformats.org/drawingml/2006/main">
            <a:defPPr algn="l">
              <a:defRPr sz="1500">
                <a:solidFill>
                  <a:srgbClr val="53677A"/>
                </a:solidFill>
                <a:latin typeface="맑은 고딕"/>
                <a:ea typeface="맑은 고딕"/>
                <a:cs typeface="맑은 고딕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53677A"/>
                </a:solidFill>
                <a:latin typeface="맑은 고딕"/>
                <a:ea typeface="맑은 고딕"/>
                <a:cs typeface="맑은 고딕"/>
              </a:defRPr>
            </a:pPr>
            <a:r>
              <a:rPr sz="1500">
                <a:solidFill>
                  <a:srgbClr val="53677A"/>
                </a:solidFill>
                <a:latin typeface="맑은 고딕"/>
                <a:ea typeface="맑은 고딕"/>
                <a:cs typeface="맑은 고딕"/>
              </a:rPr>
              <a:t>품질검사 / 불량분석 / 고객대응</a:t>
            </a:r>
          </a:p>
        </p:txBody>
      </p:sp>
      <p:sp>
        <p:nvSpPr>
          <p:cNvPr id="36" name="name31">
            <a:extLst xmlns:a="http://schemas.openxmlformats.org/drawingml/2006/main">
              <a:ext uri="{FF2B5EF4-FFF2-40B4-BE49-F238E27FC236}">
                <a16:creationId xmlns:a16="http://schemas.microsoft.com/office/drawing/2014/main" id="{ADE192C9-53A3-4452-AA2B-C81791046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7591425"/>
            <a:ext cx="452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76200" tIns="76200" rIns="76200" bIns="76200" anchor="t">
            <a:noAutofit/>
          </a:bodyPr>
          <a:lstStyle xmlns:a="http://schemas.openxmlformats.org/drawingml/2006/main">
            <a:defPPr algn="l">
              <a:defRPr sz="1650">
                <a:solidFill>
                  <a:srgbClr val="17324D"/>
                </a:solidFill>
                <a:latin typeface="맑은 고딕"/>
                <a:ea typeface="맑은 고딕"/>
                <a:cs typeface="맑은 고딕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650">
                <a:solidFill>
                  <a:srgbClr val="17324D"/>
                </a:solidFill>
                <a:latin typeface="맑은 고딕"/>
                <a:ea typeface="맑은 고딕"/>
                <a:cs typeface="맑은 고딕"/>
              </a:defRPr>
            </a:pPr>
            <a:r>
              <a:rPr sz="1650">
                <a:solidFill>
                  <a:srgbClr val="17324D"/>
                </a:solidFill>
                <a:latin typeface="맑은 고딕"/>
                <a:ea typeface="맑은 고딕"/>
                <a:cs typeface="맑은 고딕"/>
              </a:rPr>
              <a:t>양산품질 · 이광재 부장</a:t>
            </a:r>
          </a:p>
        </p:txBody>
      </p:sp>
      <p:sp>
        <p:nvSpPr>
          <p:cNvPr id="37" name="job31">
            <a:extLst xmlns:a="http://schemas.openxmlformats.org/drawingml/2006/main">
              <a:ext uri="{FF2B5EF4-FFF2-40B4-BE49-F238E27FC236}">
                <a16:creationId xmlns:a16="http://schemas.microsoft.com/office/drawing/2014/main" id="{969670BD-289A-4956-BB90-F499C4D8A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7867650"/>
            <a:ext cx="452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76200" tIns="76200" rIns="76200" bIns="76200" anchor="t">
            <a:noAutofit/>
          </a:bodyPr>
          <a:lstStyle xmlns:a="http://schemas.openxmlformats.org/drawingml/2006/main">
            <a:defPPr algn="l">
              <a:defRPr sz="1500">
                <a:solidFill>
                  <a:srgbClr val="53677A"/>
                </a:solidFill>
                <a:latin typeface="맑은 고딕"/>
                <a:ea typeface="맑은 고딕"/>
                <a:cs typeface="맑은 고딕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53677A"/>
                </a:solidFill>
                <a:latin typeface="맑은 고딕"/>
                <a:ea typeface="맑은 고딕"/>
                <a:cs typeface="맑은 고딕"/>
              </a:defRPr>
            </a:pPr>
            <a:r>
              <a:rPr sz="1500">
                <a:solidFill>
                  <a:srgbClr val="53677A"/>
                </a:solidFill>
                <a:latin typeface="맑은 고딕"/>
                <a:ea typeface="맑은 고딕"/>
                <a:cs typeface="맑은 고딕"/>
              </a:rPr>
              <a:t>품질검사 / 불량분석 / 고객대응</a:t>
            </a:r>
          </a:p>
        </p:txBody>
      </p:sp>
      <p:sp>
        <p:nvSpPr>
          <p:cNvPr id="38" name="name32">
            <a:extLst xmlns:a="http://schemas.openxmlformats.org/drawingml/2006/main">
              <a:ext uri="{FF2B5EF4-FFF2-40B4-BE49-F238E27FC236}">
                <a16:creationId xmlns:a16="http://schemas.microsoft.com/office/drawing/2014/main" id="{4617CFAB-3F54-474A-A72F-E15444158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8181975"/>
            <a:ext cx="452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76200" tIns="76200" rIns="76200" bIns="76200" anchor="t">
            <a:noAutofit/>
          </a:bodyPr>
          <a:lstStyle xmlns:a="http://schemas.openxmlformats.org/drawingml/2006/main">
            <a:defPPr algn="l">
              <a:defRPr sz="1650">
                <a:solidFill>
                  <a:srgbClr val="17324D"/>
                </a:solidFill>
                <a:latin typeface="맑은 고딕"/>
                <a:ea typeface="맑은 고딕"/>
                <a:cs typeface="맑은 고딕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650">
                <a:solidFill>
                  <a:srgbClr val="17324D"/>
                </a:solidFill>
                <a:latin typeface="맑은 고딕"/>
                <a:ea typeface="맑은 고딕"/>
                <a:cs typeface="맑은 고딕"/>
              </a:defRPr>
            </a:pPr>
            <a:r>
              <a:rPr sz="1650">
                <a:solidFill>
                  <a:srgbClr val="17324D"/>
                </a:solidFill>
                <a:latin typeface="맑은 고딕"/>
                <a:ea typeface="맑은 고딕"/>
                <a:cs typeface="맑은 고딕"/>
              </a:rPr>
              <a:t>조남옥 대리</a:t>
            </a:r>
          </a:p>
        </p:txBody>
      </p:sp>
      <p:sp>
        <p:nvSpPr>
          <p:cNvPr id="39" name="job32">
            <a:extLst xmlns:a="http://schemas.openxmlformats.org/drawingml/2006/main">
              <a:ext uri="{FF2B5EF4-FFF2-40B4-BE49-F238E27FC236}">
                <a16:creationId xmlns:a16="http://schemas.microsoft.com/office/drawing/2014/main" id="{AC27F0DB-5091-420E-A02E-0B701502B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8458200"/>
            <a:ext cx="452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76200" tIns="76200" rIns="76200" bIns="76200" anchor="t">
            <a:noAutofit/>
          </a:bodyPr>
          <a:lstStyle xmlns:a="http://schemas.openxmlformats.org/drawingml/2006/main">
            <a:defPPr algn="l">
              <a:defRPr sz="1500">
                <a:solidFill>
                  <a:srgbClr val="53677A"/>
                </a:solidFill>
                <a:latin typeface="맑은 고딕"/>
                <a:ea typeface="맑은 고딕"/>
                <a:cs typeface="맑은 고딕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53677A"/>
                </a:solidFill>
                <a:latin typeface="맑은 고딕"/>
                <a:ea typeface="맑은 고딕"/>
                <a:cs typeface="맑은 고딕"/>
              </a:defRPr>
            </a:pPr>
            <a:r>
              <a:rPr sz="1500">
                <a:solidFill>
                  <a:srgbClr val="53677A"/>
                </a:solidFill>
                <a:latin typeface="맑은 고딕"/>
                <a:ea typeface="맑은 고딕"/>
                <a:cs typeface="맑은 고딕"/>
              </a:rPr>
              <a:t>품질검사 / 불량분석 / 고객대응</a:t>
            </a:r>
          </a:p>
        </p:txBody>
      </p:sp>
      <p:sp>
        <p:nvSpPr>
          <p:cNvPr id="40" name="dept4">
            <a:extLst xmlns:a="http://schemas.openxmlformats.org/drawingml/2006/main">
              <a:ext uri="{FF2B5EF4-FFF2-40B4-BE49-F238E27FC236}">
                <a16:creationId xmlns:a16="http://schemas.microsoft.com/office/drawing/2014/main" id="{43598D63-5085-494B-A1B3-09E69476B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6381750"/>
            <a:ext cx="447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76200" tIns="76200" rIns="76200" bIns="76200" anchor="t">
            <a:noAutofit/>
          </a:bodyPr>
          <a:lstStyle xmlns:a="http://schemas.openxmlformats.org/drawingml/2006/main">
            <a:defPPr algn="l">
              <a:defRPr sz="1950">
                <a:solidFill>
                  <a:srgbClr val="087F8C"/>
                </a:solidFill>
                <a:latin typeface="맑은 고딕"/>
                <a:ea typeface="맑은 고딕"/>
                <a:cs typeface="맑은 고딕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950">
                <a:solidFill>
                  <a:srgbClr val="087F8C"/>
                </a:solidFill>
                <a:latin typeface="맑은 고딕"/>
                <a:ea typeface="맑은 고딕"/>
                <a:cs typeface="맑은 고딕"/>
              </a:defRPr>
            </a:pPr>
            <a:r>
              <a:rPr sz="1950">
                <a:solidFill>
                  <a:srgbClr val="087F8C"/>
                </a:solidFill>
                <a:latin typeface="맑은 고딕"/>
                <a:ea typeface="맑은 고딕"/>
                <a:cs typeface="맑은 고딕"/>
              </a:rPr>
              <a:t>선행품질팀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FA35995-52D0-43F4-A96C-C9E90179A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6877050"/>
            <a:ext cx="4476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7286"/>
          </a:solidFill>
          <a:ln xmlns:a="http://schemas.openxmlformats.org/drawingml/2006/main" w="0">
            <a:noFill/>
          </a:ln>
        </p:spPr>
      </p:sp>
      <p:sp>
        <p:nvSpPr>
          <p:cNvPr id="42" name="name40">
            <a:extLst xmlns:a="http://schemas.openxmlformats.org/drawingml/2006/main">
              <a:ext uri="{FF2B5EF4-FFF2-40B4-BE49-F238E27FC236}">
                <a16:creationId xmlns:a16="http://schemas.microsoft.com/office/drawing/2014/main" id="{BB038281-B36B-4653-A603-45033A754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7000875"/>
            <a:ext cx="452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76200" tIns="76200" rIns="76200" bIns="76200" anchor="t">
            <a:noAutofit/>
          </a:bodyPr>
          <a:lstStyle xmlns:a="http://schemas.openxmlformats.org/drawingml/2006/main">
            <a:defPPr algn="l">
              <a:defRPr sz="1650">
                <a:solidFill>
                  <a:srgbClr val="17324D"/>
                </a:solidFill>
                <a:latin typeface="맑은 고딕"/>
                <a:ea typeface="맑은 고딕"/>
                <a:cs typeface="맑은 고딕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650">
                <a:solidFill>
                  <a:srgbClr val="17324D"/>
                </a:solidFill>
                <a:latin typeface="맑은 고딕"/>
                <a:ea typeface="맑은 고딕"/>
                <a:cs typeface="맑은 고딕"/>
              </a:defRPr>
            </a:pPr>
            <a:r>
              <a:rPr sz="1650">
                <a:solidFill>
                  <a:srgbClr val="17324D"/>
                </a:solidFill>
                <a:latin typeface="맑은 고딕"/>
                <a:ea typeface="맑은 고딕"/>
                <a:cs typeface="맑은 고딕"/>
              </a:rPr>
              <a:t>박철호 부장</a:t>
            </a:r>
          </a:p>
        </p:txBody>
      </p:sp>
      <p:sp>
        <p:nvSpPr>
          <p:cNvPr id="43" name="job40">
            <a:extLst xmlns:a="http://schemas.openxmlformats.org/drawingml/2006/main">
              <a:ext uri="{FF2B5EF4-FFF2-40B4-BE49-F238E27FC236}">
                <a16:creationId xmlns:a16="http://schemas.microsoft.com/office/drawing/2014/main" id="{626BFF24-B566-4EEB-94EE-85B2A9E20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7277100"/>
            <a:ext cx="452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76200" tIns="76200" rIns="76200" bIns="76200" anchor="t">
            <a:noAutofit/>
          </a:bodyPr>
          <a:lstStyle xmlns:a="http://schemas.openxmlformats.org/drawingml/2006/main">
            <a:defPPr algn="l">
              <a:defRPr sz="1500">
                <a:solidFill>
                  <a:srgbClr val="53677A"/>
                </a:solidFill>
                <a:latin typeface="맑은 고딕"/>
                <a:ea typeface="맑은 고딕"/>
                <a:cs typeface="맑은 고딕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53677A"/>
                </a:solidFill>
                <a:latin typeface="맑은 고딕"/>
                <a:ea typeface="맑은 고딕"/>
                <a:cs typeface="맑은 고딕"/>
              </a:defRPr>
            </a:pPr>
            <a:r>
              <a:rPr sz="1500">
                <a:solidFill>
                  <a:srgbClr val="53677A"/>
                </a:solidFill>
                <a:latin typeface="맑은 고딕"/>
                <a:ea typeface="맑은 고딕"/>
                <a:cs typeface="맑은 고딕"/>
              </a:rPr>
              <a:t>선행품질 / SQ 시스템 안착</a:t>
            </a:r>
          </a:p>
        </p:txBody>
      </p:sp>
      <p:sp>
        <p:nvSpPr>
          <p:cNvPr id="44" name="name41">
            <a:extLst xmlns:a="http://schemas.openxmlformats.org/drawingml/2006/main">
              <a:ext uri="{FF2B5EF4-FFF2-40B4-BE49-F238E27FC236}">
                <a16:creationId xmlns:a16="http://schemas.microsoft.com/office/drawing/2014/main" id="{0F2C917E-7B99-4884-8C80-3E60FE1CD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7591425"/>
            <a:ext cx="452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76200" tIns="76200" rIns="76200" bIns="76200" anchor="t">
            <a:noAutofit/>
          </a:bodyPr>
          <a:lstStyle xmlns:a="http://schemas.openxmlformats.org/drawingml/2006/main">
            <a:defPPr algn="l">
              <a:defRPr sz="1650">
                <a:solidFill>
                  <a:srgbClr val="17324D"/>
                </a:solidFill>
                <a:latin typeface="맑은 고딕"/>
                <a:ea typeface="맑은 고딕"/>
                <a:cs typeface="맑은 고딕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650">
                <a:solidFill>
                  <a:srgbClr val="17324D"/>
                </a:solidFill>
                <a:latin typeface="맑은 고딕"/>
                <a:ea typeface="맑은 고딕"/>
                <a:cs typeface="맑은 고딕"/>
              </a:defRPr>
            </a:pPr>
            <a:r>
              <a:rPr sz="1650">
                <a:solidFill>
                  <a:srgbClr val="17324D"/>
                </a:solidFill>
                <a:latin typeface="맑은 고딕"/>
                <a:ea typeface="맑은 고딕"/>
                <a:cs typeface="맑은 고딕"/>
              </a:rPr>
              <a:t>김명용 과장</a:t>
            </a:r>
          </a:p>
        </p:txBody>
      </p:sp>
      <p:sp>
        <p:nvSpPr>
          <p:cNvPr id="45" name="job41">
            <a:extLst xmlns:a="http://schemas.openxmlformats.org/drawingml/2006/main">
              <a:ext uri="{FF2B5EF4-FFF2-40B4-BE49-F238E27FC236}">
                <a16:creationId xmlns:a16="http://schemas.microsoft.com/office/drawing/2014/main" id="{2A734399-E812-4002-A218-B3B756A85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7867650"/>
            <a:ext cx="452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76200" tIns="76200" rIns="76200" bIns="76200" anchor="t">
            <a:noAutofit/>
          </a:bodyPr>
          <a:lstStyle xmlns:a="http://schemas.openxmlformats.org/drawingml/2006/main">
            <a:defPPr algn="l">
              <a:defRPr sz="1500">
                <a:solidFill>
                  <a:srgbClr val="53677A"/>
                </a:solidFill>
                <a:latin typeface="맑은 고딕"/>
                <a:ea typeface="맑은 고딕"/>
                <a:cs typeface="맑은 고딕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53677A"/>
                </a:solidFill>
                <a:latin typeface="맑은 고딕"/>
                <a:ea typeface="맑은 고딕"/>
                <a:cs typeface="맑은 고딕"/>
              </a:defRPr>
            </a:pPr>
            <a:r>
              <a:rPr sz="1500">
                <a:solidFill>
                  <a:srgbClr val="53677A"/>
                </a:solidFill>
                <a:latin typeface="맑은 고딕"/>
                <a:ea typeface="맑은 고딕"/>
                <a:cs typeface="맑은 고딕"/>
              </a:rPr>
              <a:t>선행품질 / SQ 시스템 안착</a:t>
            </a:r>
          </a:p>
        </p:txBody>
      </p:sp>
      <p:sp>
        <p:nvSpPr>
          <p:cNvPr id="46" name="name42">
            <a:extLst xmlns:a="http://schemas.openxmlformats.org/drawingml/2006/main">
              <a:ext uri="{FF2B5EF4-FFF2-40B4-BE49-F238E27FC236}">
                <a16:creationId xmlns:a16="http://schemas.microsoft.com/office/drawing/2014/main" id="{CD20F3A1-8CF9-452F-B1EE-F2A394791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8181975"/>
            <a:ext cx="452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76200" tIns="76200" rIns="76200" bIns="76200" anchor="t">
            <a:noAutofit/>
          </a:bodyPr>
          <a:lstStyle xmlns:a="http://schemas.openxmlformats.org/drawingml/2006/main">
            <a:defPPr algn="l">
              <a:defRPr sz="1650">
                <a:solidFill>
                  <a:srgbClr val="17324D"/>
                </a:solidFill>
                <a:latin typeface="맑은 고딕"/>
                <a:ea typeface="맑은 고딕"/>
                <a:cs typeface="맑은 고딕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650">
                <a:solidFill>
                  <a:srgbClr val="17324D"/>
                </a:solidFill>
                <a:latin typeface="맑은 고딕"/>
                <a:ea typeface="맑은 고딕"/>
                <a:cs typeface="맑은 고딕"/>
              </a:defRPr>
            </a:pPr>
            <a:r>
              <a:rPr sz="1650">
                <a:solidFill>
                  <a:srgbClr val="17324D"/>
                </a:solidFill>
                <a:latin typeface="맑은 고딕"/>
                <a:ea typeface="맑은 고딕"/>
                <a:cs typeface="맑은 고딕"/>
              </a:rPr>
              <a:t>박미광 사원</a:t>
            </a:r>
          </a:p>
        </p:txBody>
      </p:sp>
      <p:sp>
        <p:nvSpPr>
          <p:cNvPr id="47" name="job42">
            <a:extLst xmlns:a="http://schemas.openxmlformats.org/drawingml/2006/main">
              <a:ext uri="{FF2B5EF4-FFF2-40B4-BE49-F238E27FC236}">
                <a16:creationId xmlns:a16="http://schemas.microsoft.com/office/drawing/2014/main" id="{9CE669EC-154A-47A5-9FB9-33EC2EF2A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8458200"/>
            <a:ext cx="452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76200" tIns="76200" rIns="76200" bIns="76200" anchor="t">
            <a:noAutofit/>
          </a:bodyPr>
          <a:lstStyle xmlns:a="http://schemas.openxmlformats.org/drawingml/2006/main">
            <a:defPPr algn="l">
              <a:defRPr sz="1500">
                <a:solidFill>
                  <a:srgbClr val="53677A"/>
                </a:solidFill>
                <a:latin typeface="맑은 고딕"/>
                <a:ea typeface="맑은 고딕"/>
                <a:cs typeface="맑은 고딕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53677A"/>
                </a:solidFill>
                <a:latin typeface="맑은 고딕"/>
                <a:ea typeface="맑은 고딕"/>
                <a:cs typeface="맑은 고딕"/>
              </a:defRPr>
            </a:pPr>
            <a:r>
              <a:rPr sz="1500">
                <a:solidFill>
                  <a:srgbClr val="53677A"/>
                </a:solidFill>
                <a:latin typeface="맑은 고딕"/>
                <a:ea typeface="맑은 고딕"/>
                <a:cs typeface="맑은 고딕"/>
              </a:rPr>
              <a:t>선행품질 / SQ 대응 / 수입검사</a:t>
            </a:r>
          </a:p>
        </p:txBody>
      </p:sp>
      <p:sp>
        <p:nvSpPr>
          <p:cNvPr id="48" name="dept5">
            <a:extLst xmlns:a="http://schemas.openxmlformats.org/drawingml/2006/main">
              <a:ext uri="{FF2B5EF4-FFF2-40B4-BE49-F238E27FC236}">
                <a16:creationId xmlns:a16="http://schemas.microsoft.com/office/drawing/2014/main" id="{37EEDFC5-AF31-42F1-AD03-CBC707221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6381750"/>
            <a:ext cx="447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76200" tIns="76200" rIns="76200" bIns="76200" anchor="t">
            <a:noAutofit/>
          </a:bodyPr>
          <a:lstStyle xmlns:a="http://schemas.openxmlformats.org/drawingml/2006/main">
            <a:defPPr algn="l">
              <a:defRPr sz="1950">
                <a:solidFill>
                  <a:srgbClr val="17324D"/>
                </a:solidFill>
                <a:latin typeface="맑은 고딕"/>
                <a:ea typeface="맑은 고딕"/>
                <a:cs typeface="맑은 고딕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950">
                <a:solidFill>
                  <a:srgbClr val="17324D"/>
                </a:solidFill>
                <a:latin typeface="맑은 고딕"/>
                <a:ea typeface="맑은 고딕"/>
                <a:cs typeface="맑은 고딕"/>
              </a:defRPr>
            </a:pPr>
            <a:r>
              <a:rPr sz="1950">
                <a:solidFill>
                  <a:srgbClr val="17324D"/>
                </a:solidFill>
                <a:latin typeface="맑은 고딕"/>
                <a:ea typeface="맑은 고딕"/>
                <a:cs typeface="맑은 고딕"/>
              </a:rPr>
              <a:t>경영관리팀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4F59447-1915-4887-846F-716E9C97B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6877050"/>
            <a:ext cx="4476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7286"/>
          </a:solidFill>
          <a:ln xmlns:a="http://schemas.openxmlformats.org/drawingml/2006/main" w="0">
            <a:noFill/>
          </a:ln>
        </p:spPr>
      </p:sp>
      <p:sp>
        <p:nvSpPr>
          <p:cNvPr id="50" name="name50">
            <a:extLst xmlns:a="http://schemas.openxmlformats.org/drawingml/2006/main">
              <a:ext uri="{FF2B5EF4-FFF2-40B4-BE49-F238E27FC236}">
                <a16:creationId xmlns:a16="http://schemas.microsoft.com/office/drawing/2014/main" id="{17D7B582-A63C-4D23-A709-09D9C2AC3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7000875"/>
            <a:ext cx="452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76200" tIns="76200" rIns="76200" bIns="76200" anchor="t">
            <a:noAutofit/>
          </a:bodyPr>
          <a:lstStyle xmlns:a="http://schemas.openxmlformats.org/drawingml/2006/main">
            <a:defPPr algn="l">
              <a:defRPr sz="1650">
                <a:solidFill>
                  <a:srgbClr val="17324D"/>
                </a:solidFill>
                <a:latin typeface="맑은 고딕"/>
                <a:ea typeface="맑은 고딕"/>
                <a:cs typeface="맑은 고딕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650">
                <a:solidFill>
                  <a:srgbClr val="17324D"/>
                </a:solidFill>
                <a:latin typeface="맑은 고딕"/>
                <a:ea typeface="맑은 고딕"/>
                <a:cs typeface="맑은 고딕"/>
              </a:defRPr>
            </a:pPr>
            <a:r>
              <a:rPr sz="1650">
                <a:solidFill>
                  <a:srgbClr val="17324D"/>
                </a:solidFill>
                <a:latin typeface="맑은 고딕"/>
                <a:ea typeface="맑은 고딕"/>
                <a:cs typeface="맑은 고딕"/>
              </a:rPr>
              <a:t>김수미 관리 책임자</a:t>
            </a:r>
          </a:p>
        </p:txBody>
      </p:sp>
      <p:sp>
        <p:nvSpPr>
          <p:cNvPr id="51" name="job50">
            <a:extLst xmlns:a="http://schemas.openxmlformats.org/drawingml/2006/main">
              <a:ext uri="{FF2B5EF4-FFF2-40B4-BE49-F238E27FC236}">
                <a16:creationId xmlns:a16="http://schemas.microsoft.com/office/drawing/2014/main" id="{97353B7A-6BF1-4DD1-8B9C-D840D6AAD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7277100"/>
            <a:ext cx="452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76200" tIns="76200" rIns="76200" bIns="76200" anchor="t">
            <a:noAutofit/>
          </a:bodyPr>
          <a:lstStyle xmlns:a="http://schemas.openxmlformats.org/drawingml/2006/main">
            <a:defPPr algn="l">
              <a:defRPr sz="1500">
                <a:solidFill>
                  <a:srgbClr val="53677A"/>
                </a:solidFill>
                <a:latin typeface="맑은 고딕"/>
                <a:ea typeface="맑은 고딕"/>
                <a:cs typeface="맑은 고딕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53677A"/>
                </a:solidFill>
                <a:latin typeface="맑은 고딕"/>
                <a:ea typeface="맑은 고딕"/>
                <a:cs typeface="맑은 고딕"/>
              </a:defRPr>
            </a:pPr>
            <a:r>
              <a:rPr sz="1500">
                <a:solidFill>
                  <a:srgbClr val="53677A"/>
                </a:solidFill>
                <a:latin typeface="맑은 고딕"/>
                <a:ea typeface="맑은 고딕"/>
                <a:cs typeface="맑은 고딕"/>
              </a:rPr>
              <a:t>인사·총무·급여 / 자산관리 / 계약관리</a:t>
            </a:r>
          </a:p>
        </p:txBody>
      </p:sp>
      <p:sp>
        <p:nvSpPr>
          <p:cNvPr id="52" name="name51">
            <a:extLst xmlns:a="http://schemas.openxmlformats.org/drawingml/2006/main">
              <a:ext uri="{FF2B5EF4-FFF2-40B4-BE49-F238E27FC236}">
                <a16:creationId xmlns:a16="http://schemas.microsoft.com/office/drawing/2014/main" id="{63D830C1-F490-4E09-94C8-FAFAC3329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7591425"/>
            <a:ext cx="452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76200" tIns="76200" rIns="76200" bIns="76200" anchor="t">
            <a:noAutofit/>
          </a:bodyPr>
          <a:lstStyle xmlns:a="http://schemas.openxmlformats.org/drawingml/2006/main">
            <a:defPPr algn="l">
              <a:defRPr sz="1650">
                <a:solidFill>
                  <a:srgbClr val="17324D"/>
                </a:solidFill>
                <a:latin typeface="맑은 고딕"/>
                <a:ea typeface="맑은 고딕"/>
                <a:cs typeface="맑은 고딕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650">
                <a:solidFill>
                  <a:srgbClr val="17324D"/>
                </a:solidFill>
                <a:latin typeface="맑은 고딕"/>
                <a:ea typeface="맑은 고딕"/>
                <a:cs typeface="맑은 고딕"/>
              </a:defRPr>
            </a:pPr>
            <a:r>
              <a:rPr sz="1650">
                <a:solidFill>
                  <a:srgbClr val="17324D"/>
                </a:solidFill>
                <a:latin typeface="맑은 고딕"/>
                <a:ea typeface="맑은 고딕"/>
                <a:cs typeface="맑은 고딕"/>
              </a:rPr>
              <a:t>안혜정 대리</a:t>
            </a:r>
          </a:p>
        </p:txBody>
      </p:sp>
      <p:sp>
        <p:nvSpPr>
          <p:cNvPr id="53" name="job51">
            <a:extLst xmlns:a="http://schemas.openxmlformats.org/drawingml/2006/main">
              <a:ext uri="{FF2B5EF4-FFF2-40B4-BE49-F238E27FC236}">
                <a16:creationId xmlns:a16="http://schemas.microsoft.com/office/drawing/2014/main" id="{79494E0C-E314-4058-898B-4D5F2EFA9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7867650"/>
            <a:ext cx="4524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76200" tIns="76200" rIns="76200" bIns="76200" anchor="t">
            <a:noAutofit/>
          </a:bodyPr>
          <a:lstStyle xmlns:a="http://schemas.openxmlformats.org/drawingml/2006/main">
            <a:defPPr algn="l">
              <a:defRPr sz="1500">
                <a:solidFill>
                  <a:srgbClr val="53677A"/>
                </a:solidFill>
                <a:latin typeface="맑은 고딕"/>
                <a:ea typeface="맑은 고딕"/>
                <a:cs typeface="맑은 고딕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53677A"/>
                </a:solidFill>
                <a:latin typeface="맑은 고딕"/>
                <a:ea typeface="맑은 고딕"/>
                <a:cs typeface="맑은 고딕"/>
              </a:defRPr>
            </a:pPr>
            <a:r>
              <a:rPr sz="1500">
                <a:solidFill>
                  <a:srgbClr val="53677A"/>
                </a:solidFill>
                <a:latin typeface="맑은 고딕"/>
                <a:ea typeface="맑은 고딕"/>
                <a:cs typeface="맑은 고딕"/>
              </a:rPr>
              <a:t>인사·총무·급여 / 자산관리 / 계약관리</a:t>
            </a:r>
          </a:p>
        </p:txBody>
      </p:sp>
    </p:spTree>
    <p:extLst>
      <p:ext uri="{BB962C8B-B14F-4D97-AF65-F5344CB8AC3E}">
        <p14:creationId xmlns:p14="http://schemas.microsoft.com/office/powerpoint/2010/main" val="143262722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2026-10-13T04:00:53.9910000Z</dcterms:created>
  <dcterms:modified xsi:type="dcterms:W3CDTF">2026-10-13T04:00:53.9910000Z</dcterms:modified>
</coreProperties>
</file>